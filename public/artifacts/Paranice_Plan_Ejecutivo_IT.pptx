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ED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822960" cy="1143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23774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RETO TÉCNICO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315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1E1356"/>
                </a:solidFill>
                <a:latin typeface="Calibri"/>
              </a:rPr>
              <a:t>Construimos el plan IT
que Paranice necesita
para escalar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7B5EA7"/>
                </a:solidFill>
                <a:latin typeface="Calibri"/>
              </a:rPr>
              <a:t>Bajo supervisión de RRHH · PMP · Agilidad · Seguridad · IA responsable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dispositivos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base del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429768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43891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8006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Apple aprox.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07492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base del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429768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3891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8006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Windows aprox.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07492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base del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429768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43891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8006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stock objetivo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507492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base del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7772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800" b="1" i="0">
                <a:solidFill>
                  <a:srgbClr val="1E1356"/>
                </a:solidFill>
                <a:latin typeface="Calibri"/>
              </a:rPr>
              <a:t>Paranice / Why Not · Mayo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LECTURA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El reto no es técnico: es crear gobierno IT bajo supervisión de RRHH.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1089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27797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64792"/>
            <a:ext cx="27797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RRHH custodia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94560"/>
            <a:ext cx="2779776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Resuelve accesos, equipos y eventos laborales con conocimiento parcial.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31089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554480"/>
            <a:ext cx="27797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NECESIDAD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764792"/>
            <a:ext cx="27797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Ownership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194560"/>
            <a:ext cx="2779776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IT asume activos, accesos, licencias, seguridad, soporte y proveedores.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417320"/>
            <a:ext cx="3127248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554480"/>
            <a:ext cx="279806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1764792"/>
            <a:ext cx="279806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Control sin fricción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2194560"/>
            <a:ext cx="2798064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RRHH mantiene supervisión laboral; IT ejecuta técnicamente con evidencia.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1945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1945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749039"/>
            <a:ext cx="10241280" cy="914400"/>
          </a:xfrm>
          <a:prstGeom prst="rect">
            <a:avLst/>
          </a:prstGeom>
          <a:solidFill>
            <a:srgbClr val="DDF1F8"/>
          </a:solidFill>
          <a:ln>
            <a:solidFill>
              <a:srgbClr val="D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886199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Principio de diseño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69663"/>
            <a:ext cx="9875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E1356"/>
                </a:solidFill>
                <a:latin typeface="Calibri"/>
              </a:rPr>
              <a:t>No reemplazamos a RRHH: le quitamos la carga técnica. RRHH supervisa eventos laborales; IT profesionaliza ejecución, trazabilidad y seguridad.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BASE CUANTIFICADA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La primera decisión gerencial: convertir supuestos en indicadores controlables.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Parque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dispositivos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0876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Apple aprox.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8600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80% del parque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50876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6002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0116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Windows aprox.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28600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20% del parque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50876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6002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0116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Stock objetivo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8600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10% inicial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1508760"/>
            <a:ext cx="1554480" cy="1097280"/>
          </a:xfrm>
          <a:prstGeom prst="rect">
            <a:avLst/>
          </a:prstGeom>
          <a:solidFill>
            <a:srgbClr val="EDE8F6"/>
          </a:solidFill>
          <a:ln>
            <a:solidFill>
              <a:srgbClr val="DE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6002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4B2E83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0116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Punto reposición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286000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E92B8"/>
                </a:solidFill>
                <a:latin typeface="Calibri"/>
              </a:rPr>
              <a:t>umbral mínimo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07792"/>
            <a:ext cx="110642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09067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1356"/>
                </a:solidFill>
                <a:latin typeface="Calibri"/>
              </a:rPr>
              <a:t>Metas de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514344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38144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Día 30: 100% de activos, usuarios, aplicaciones y licencias críticas inventariadas.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06952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3075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Día 60: 85% de equipos bajo MDM o con plan de enrolamiento.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99560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023360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Día 90: 95% de endpoints cifrados y con políticas base.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392168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315968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Offboarding sensible: revocación de accesos en menos de 1 hora.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MODELO DE GOBIERNO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PMP ordena la dirección; agilidad permite cerrar riesgos desde la primera semana.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560320" cy="2286000"/>
          </a:xfrm>
          <a:prstGeom prst="rect">
            <a:avLst/>
          </a:prstGeom>
          <a:solidFill>
            <a:srgbClr val="EDE8F6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22311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PMP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223113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PMP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0280"/>
            <a:ext cx="223113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Alcance, riesgos, stakeholders, presupuesto y decisiones ejecutivas.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00200"/>
            <a:ext cx="22311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KANBAN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810512"/>
            <a:ext cx="223113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Kanban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40280"/>
            <a:ext cx="223113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Canal único para solicitudes, soporte, bloqueos y seguimiento diario.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00200"/>
            <a:ext cx="22311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ITIL 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223113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ITIL 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240280"/>
            <a:ext cx="223113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Incidentes, requerimientos, cambios y base de conocimiento.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600200"/>
            <a:ext cx="22311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810512"/>
            <a:ext cx="223113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Seguridad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240280"/>
            <a:ext cx="223113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NIST CSF, Zero Trust, MDM, IAM, MFA y mínimo privilegio.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4B2E83"/>
                </a:solidFill>
                <a:latin typeface="Calibri"/>
              </a:rPr>
              <a:t>Supervisión RRHH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07408"/>
            <a:ext cx="11064240" cy="749808"/>
          </a:xfrm>
          <a:prstGeom prst="rect">
            <a:avLst/>
          </a:prstGeom>
          <a:solidFill>
            <a:srgbClr val="D4F0E8"/>
          </a:solidFill>
          <a:ln>
            <a:solidFill>
              <a:srgbClr val="D4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44568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Separación de responsabilidades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28032"/>
            <a:ext cx="10698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E1356"/>
                </a:solidFill>
                <a:latin typeface="Calibri"/>
              </a:rPr>
              <a:t>RRHH conserva supervisión del rol y eventos laborales. IT tiene autoridad técnica sobre accesos, activos, licencias, seguridad y proveedores. Esa separación evita vacíos de responsabilidad.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TRANSICIÓN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La transición RRHH → IT es respetuosa, supervisada y medible.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23225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DÍAS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23225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2322576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Mapear qué administra RRHH: accesos, proveedores, licencias, inventarios y dolores.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26517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554480"/>
            <a:ext cx="23225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DÍAS 1–10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764792"/>
            <a:ext cx="23225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Contener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194560"/>
            <a:ext cx="2322576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MFA admins, cuentas nominales, usuarios activos vs colaboradores y checklist temporal.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651760" cy="2606040"/>
          </a:xfrm>
          <a:prstGeom prst="rect">
            <a:avLst/>
          </a:prstGeom>
          <a:solidFill>
            <a:srgbClr val="EDE8F6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54480"/>
            <a:ext cx="23225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DÍAS 10–30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764792"/>
            <a:ext cx="23225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Transferir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2322576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IT asume administración técnica; RRHH queda como solicitante/aprobador.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417320"/>
            <a:ext cx="265176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554480"/>
            <a:ext cx="23225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DÍAS 31–60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1764792"/>
            <a:ext cx="23225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Estabilizar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194560"/>
            <a:ext cx="2322576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Automatizar, medir SLAs, ejecutar simulacro y ajustar gobierno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468880"/>
            <a:ext cx="594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468880"/>
            <a:ext cx="594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468880"/>
            <a:ext cx="594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74920"/>
            <a:ext cx="3474720" cy="329184"/>
          </a:xfrm>
          <a:prstGeom prst="rect">
            <a:avLst/>
          </a:prstGeom>
          <a:solidFill>
            <a:srgbClr val="DDF1F8"/>
          </a:solidFill>
          <a:ln>
            <a:solidFill>
              <a:srgbClr val="D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32918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E1356"/>
                </a:solidFill>
                <a:latin typeface="Calibri"/>
              </a:rPr>
              <a:t>RRHH supervisa eventos laborales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5074920"/>
            <a:ext cx="3474720" cy="329184"/>
          </a:xfrm>
          <a:prstGeom prst="rect">
            <a:avLst/>
          </a:prstGeom>
          <a:solidFill>
            <a:srgbClr val="EDE8F6"/>
          </a:solidFill>
          <a:ln>
            <a:solidFill>
              <a:srgbClr val="E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5120640"/>
            <a:ext cx="32918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4B2E83"/>
                </a:solidFill>
                <a:latin typeface="Calibri"/>
              </a:rPr>
              <a:t>IT ejecuta controles técnicos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5074920"/>
            <a:ext cx="3474720" cy="329184"/>
          </a:xfrm>
          <a:prstGeom prst="rect">
            <a:avLst/>
          </a:prstGeom>
          <a:solidFill>
            <a:srgbClr val="FFFBE6"/>
          </a:solidFill>
          <a:ln>
            <a:solidFill>
              <a:srgbClr val="FFF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120640"/>
            <a:ext cx="32918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7A5A00"/>
                </a:solidFill>
                <a:latin typeface="Calibri"/>
              </a:rPr>
              <a:t>Finanzas valida activos y licencias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CONTROL DE ACTIVOS Y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El stock de seguridad no es inventario muerto: es continuidad operativa.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4B2E83"/>
                </a:solidFill>
                <a:latin typeface="Calibri"/>
              </a:rPr>
              <a:t>Fórmula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72768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Stock = ingresos en lead time + fallas/reparaciones + buffer operativo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2024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E92B8"/>
                </a:solidFill>
                <a:latin typeface="Calibri"/>
              </a:rPr>
              <a:t>Punto de partida: 10% de 79 = 8 equipos. Mezcla recomendada: 6 Apple + 2 Windows.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1417320" cy="841248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1417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108960"/>
            <a:ext cx="2468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7128" y="2834640"/>
            <a:ext cx="1417320" cy="841248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8" y="3017520"/>
            <a:ext cx="1417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Recepción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108960"/>
            <a:ext cx="2468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336" y="2834640"/>
            <a:ext cx="1417320" cy="841248"/>
          </a:xfrm>
          <a:prstGeom prst="rect">
            <a:avLst/>
          </a:prstGeom>
          <a:solidFill>
            <a:srgbClr val="4B2E83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1336" y="3017520"/>
            <a:ext cx="1417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MDM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3108960"/>
            <a:ext cx="2468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5544" y="2834640"/>
            <a:ext cx="1417320" cy="841248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95544" y="3017520"/>
            <a:ext cx="1417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Asignación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108960"/>
            <a:ext cx="2468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9752" y="2834640"/>
            <a:ext cx="1417320" cy="841248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3017520"/>
            <a:ext cx="1417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Soporte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108960"/>
            <a:ext cx="2468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2834640"/>
            <a:ext cx="1417320" cy="841248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3017520"/>
            <a:ext cx="1417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Devolución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108960"/>
            <a:ext cx="2468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88168" y="2834640"/>
            <a:ext cx="1417320" cy="841248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88168" y="3017520"/>
            <a:ext cx="1417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1356"/>
                </a:solidFill>
                <a:latin typeface="Calibri"/>
              </a:rPr>
              <a:t>Baja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53839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77639"/>
            <a:ext cx="10515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Meta día 30: inventario 100% con responsable, serial, estado, SO, garantía y criticidad.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383023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306823"/>
            <a:ext cx="10515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Meta día 60: 8 equipos de stock disponibles o compra en curso.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712207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36007"/>
            <a:ext cx="10515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Meta día 90: ciclo de vida activo con punto de reposición menor a 4 equipos.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C8BAE5"/>
                </a:solidFill>
                <a:latin typeface="Calibri"/>
              </a:rPr>
              <a:t>SEGURIDAD DE ACCESOS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 seguridad sigue identidad, rol, dispositivo y contexto — no la 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0058400" cy="254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0" y="2011680"/>
            <a:ext cx="2496312" cy="128016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194560"/>
            <a:ext cx="231343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GOOGLE WORKSPACE
Identity Provider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103120" cy="68580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Slack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2103120" cy="68580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2103120" cy="68580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Adobe 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2011680"/>
            <a:ext cx="2103120" cy="68580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1945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ClickUp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108960"/>
            <a:ext cx="2103120" cy="68580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2918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4206240"/>
            <a:ext cx="2103120" cy="68580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4389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66360"/>
            <a:ext cx="3566160" cy="96012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85232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8BAE5"/>
                </a:solidFill>
                <a:latin typeface="Calibri"/>
              </a:rPr>
              <a:t>MFA obligatorio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8"/>
            <a:ext cx="3291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8BAE5"/>
                </a:solidFill>
                <a:latin typeface="Calibri"/>
              </a:rPr>
              <a:t>Admins, RRHH, Finanzas, SAP, Adobe, Google y Slack.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166360"/>
            <a:ext cx="3566160" cy="96012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5285232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8BAE5"/>
                </a:solidFill>
                <a:latin typeface="Calibri"/>
              </a:rPr>
              <a:t>Roles y privilegio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596128"/>
            <a:ext cx="3291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8BAE5"/>
                </a:solidFill>
                <a:latin typeface="Calibri"/>
              </a:rPr>
              <a:t>Mínimo privilegio y aprobación por líder de área.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166360"/>
            <a:ext cx="3566160" cy="960120"/>
          </a:xfrm>
          <a:prstGeom prst="rect">
            <a:avLst/>
          </a:prstGeom>
          <a:solidFill>
            <a:srgbClr val="2D1F5E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5285232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8BAE5"/>
                </a:solidFill>
                <a:latin typeface="Calibri"/>
              </a:rPr>
              <a:t>SSO / SCIM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596128"/>
            <a:ext cx="3291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8BAE5"/>
                </a:solidFill>
                <a:latin typeface="Calibri"/>
              </a:rPr>
              <a:t>Google como IdP. SCIM donde aplique. Recertificación trimestral.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VPN VS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La VPN es la escalera. Zero Trust es el destino.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120640" cy="3200400"/>
          </a:xfrm>
          <a:prstGeom prst="rect">
            <a:avLst/>
          </a:prstGeom>
          <a:solidFill>
            <a:srgbClr val="F5F5F7"/>
          </a:solidFill>
          <a:ln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555570"/>
                </a:solidFill>
                <a:latin typeface="Calibri"/>
              </a:rPr>
              <a:t>VPN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E92B8"/>
                </a:solidFill>
                <a:latin typeface="Calibri"/>
              </a:rPr>
              <a:t>Transición controlada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07920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  <a:latin typeface="Calibri"/>
              </a:rPr>
              <a:t>Conecta al túnel de red completo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37104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  <a:latin typeface="Calibri"/>
              </a:rPr>
              <a:t>Confianza implícita dentro del perímetro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6288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90088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  <a:latin typeface="Calibri"/>
              </a:rPr>
              <a:t>Difícil revocar acceso granular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95472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9272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  <a:latin typeface="Calibri"/>
              </a:rPr>
              <a:t>✓ Útil para SAP y recursos on-premise hoy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74320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417320"/>
            <a:ext cx="5120640" cy="3200400"/>
          </a:xfrm>
          <a:prstGeom prst="rect">
            <a:avLst/>
          </a:prstGeom>
          <a:solidFill>
            <a:srgbClr val="EDE8F6"/>
          </a:solidFill>
          <a:ln>
            <a:solidFill>
              <a:srgbClr val="B8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00200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1356"/>
                </a:solidFill>
                <a:latin typeface="Calibri"/>
              </a:rPr>
              <a:t>Zero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984248"/>
            <a:ext cx="3200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4B2E83"/>
                </a:solidFill>
                <a:latin typeface="Calibri"/>
              </a:rPr>
              <a:t>Meta para Paranice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407920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331720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Conecta al recurso exacto que necesitas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737104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660904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Verifica usuario + dispositivo + contexto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066288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990088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Revocación granular y en tiempo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395472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19272"/>
            <a:ext cx="4480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✓ Cloudflare Zero Trust o Tailscale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00600"/>
            <a:ext cx="11064240" cy="868680"/>
          </a:xfrm>
          <a:prstGeom prst="rect">
            <a:avLst/>
          </a:prstGeom>
          <a:solidFill>
            <a:srgbClr val="DDF1F8"/>
          </a:solidFill>
          <a:ln>
            <a:solidFill>
              <a:srgbClr val="D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Recomendación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21224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E1356"/>
                </a:solidFill>
                <a:latin typeface="Calibri"/>
              </a:rPr>
              <a:t>Evaluamos Cloudflare Zero Trust o Tailscale según arquitectura real, SAP, presupuesto y UX. No decidimos por marca sin diagnóstico. VPN como puente → Piloto ZT día 45 → ZT en producción día 90.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ONBOARDING SIN STOCK DISPONIBLE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Si entra alguien mañana y no hay equipo — ejecutamos este protocolo.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C8BAE5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76272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1356"/>
                </a:solidFill>
                <a:latin typeface="Calibri"/>
              </a:rPr>
              <a:t>Evaluar criticidad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51760"/>
            <a:ext cx="2331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B5EA7"/>
                </a:solidFill>
                <a:latin typeface="Calibri"/>
              </a:rPr>
              <a:t>¿Impacta ventas, operación o finanzas? Determina urgencia y modo de respuesta.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346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26974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7276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C8BAE5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176272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1356"/>
                </a:solidFill>
                <a:latin typeface="Calibri"/>
              </a:rPr>
              <a:t>Buscar recuperable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2331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B5EA7"/>
                </a:solidFill>
                <a:latin typeface="Calibri"/>
              </a:rPr>
              <a:t>Equipos devueltos, reparaciones activas o préstamo temporal del inventario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2697480" cy="3200400"/>
          </a:xfrm>
          <a:prstGeom prst="rect">
            <a:avLst/>
          </a:prstGeom>
          <a:solidFill>
            <a:srgbClr val="FFFBE6"/>
          </a:solidFill>
          <a:ln>
            <a:solidFill>
              <a:srgbClr val="F0D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7276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76272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1356"/>
                </a:solidFill>
                <a:latin typeface="Calibri"/>
              </a:rPr>
              <a:t>Excepción controlada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51760"/>
            <a:ext cx="2331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B5EA7"/>
                </a:solidFill>
                <a:latin typeface="Calibri"/>
              </a:rPr>
              <a:t>BYOD solo vía web, MFA obligatorio, sin sync local, fecha límite documentada.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346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417320"/>
            <a:ext cx="26974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57276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C8BAE5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176272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1356"/>
                </a:solidFill>
                <a:latin typeface="Calibri"/>
              </a:rPr>
              <a:t>Compra express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651760"/>
            <a:ext cx="2331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B5EA7"/>
                </a:solidFill>
                <a:latin typeface="Calibri"/>
              </a:rPr>
              <a:t>Registro del riesgo, aprobación Finanzas, cierre al llegar el equipo con MDM.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4846320"/>
            <a:ext cx="8869680" cy="749808"/>
          </a:xfrm>
          <a:prstGeom prst="rect">
            <a:avLst/>
          </a:prstGeom>
          <a:solidFill>
            <a:srgbClr val="1E1356"/>
          </a:solidFill>
          <a:ln>
            <a:solidFill>
              <a:srgbClr val="1E1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983480"/>
            <a:ext cx="8503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8BAE5"/>
                </a:solidFill>
                <a:latin typeface="Calibri"/>
              </a:rPr>
              <a:t>Principio irrenunciable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66944"/>
            <a:ext cx="850392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E1356"/>
                </a:solidFill>
                <a:latin typeface="Calibri"/>
              </a:rPr>
              <a:t>Toda excepción tiene: dueño visible · fecha límite · control de datos. Sin estas tres condiciones, no existe la excepción.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PROTOCOLO DE OFFBOARDING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El caso del comercial: cada minuto cuenta, cada paso deja evidencia.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474720" cy="4160520"/>
          </a:xfrm>
          <a:prstGeom prst="rect">
            <a:avLst/>
          </a:prstGeom>
          <a:solidFill>
            <a:srgbClr val="FFE4E1"/>
          </a:solidFill>
          <a:ln>
            <a:solidFill>
              <a:srgbClr val="F4C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B2F2F"/>
                </a:solidFill>
                <a:latin typeface="Calibri"/>
              </a:rPr>
              <a:t>Riesgos activos ahora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3017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B2F2F"/>
                </a:solidFill>
                <a:latin typeface="Calibri"/>
              </a:rPr>
              <a:t>• Gmail corporativo activo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3017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B2F2F"/>
                </a:solidFill>
                <a:latin typeface="Calibri"/>
              </a:rPr>
              <a:t>• Slack con conversaciones internas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71216"/>
            <a:ext cx="3017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B2F2F"/>
                </a:solidFill>
                <a:latin typeface="Calibri"/>
              </a:rPr>
              <a:t>• Drive con piezas de marca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0128"/>
            <a:ext cx="3017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B2F2F"/>
                </a:solidFill>
                <a:latin typeface="Calibri"/>
              </a:rPr>
              <a:t>• Adobe Creative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3017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B2F2F"/>
                </a:solidFill>
                <a:latin typeface="Calibri"/>
              </a:rPr>
              <a:t>• MacBook y celular corporativos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2"/>
            <a:ext cx="3017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B2F2F"/>
                </a:solidFill>
                <a:latin typeface="Calibri"/>
              </a:rPr>
              <a:t>• Suplantación, fuga o borrado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740664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72768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1356"/>
                </a:solidFill>
                <a:latin typeface="Calibri"/>
              </a:rPr>
              <a:t>Protocolo de ejecución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93392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93392"/>
            <a:ext cx="5760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RRHH notifica salida y criticidad del 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029968"/>
            <a:ext cx="91440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2029968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4B2E83"/>
                </a:solidFill>
                <a:latin typeface="Calibri"/>
              </a:rPr>
              <a:t>RRHH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14016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414016"/>
            <a:ext cx="5760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IT suspende Google Workspace y revoca sesiones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61320" y="2450592"/>
            <a:ext cx="91440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61320" y="24505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4B2E83"/>
                </a:solidFill>
                <a:latin typeface="Calibri"/>
              </a:rPr>
              <a:t>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34640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834640"/>
            <a:ext cx="5760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IT cierra Slack, Adobe, ClickUp y SAP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20" y="2871216"/>
            <a:ext cx="91440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28712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4B2E83"/>
                </a:solidFill>
                <a:latin typeface="Calibri"/>
              </a:rPr>
              <a:t>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255264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255264"/>
            <a:ext cx="5760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IT transfiere Drive y archivos de marca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3291840"/>
            <a:ext cx="91440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20" y="32918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4B2E83"/>
                </a:solidFill>
                <a:latin typeface="Calibri"/>
              </a:rPr>
              <a:t>IT + RRHH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75888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675888"/>
            <a:ext cx="5760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MDM bloquea MacBook y celular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61320" y="3712464"/>
            <a:ext cx="91440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1320" y="3712464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4B2E83"/>
                </a:solidFill>
                <a:latin typeface="Calibri"/>
              </a:rPr>
              <a:t>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096512"/>
            <a:ext cx="274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096512"/>
            <a:ext cx="5760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Finanzas cierra activo y documenta evidencia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61320" y="4133088"/>
            <a:ext cx="91440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4133088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4B2E83"/>
                </a:solidFill>
                <a:latin typeface="Calibri"/>
              </a:rPr>
              <a:t>Finanzas + 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5779008"/>
            <a:ext cx="3657600" cy="329184"/>
          </a:xfrm>
          <a:prstGeom prst="rect">
            <a:avLst/>
          </a:prstGeom>
          <a:solidFill>
            <a:srgbClr val="EDE8F6"/>
          </a:solidFill>
          <a:ln>
            <a:solidFill>
              <a:srgbClr val="E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824728"/>
            <a:ext cx="3474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4B2E83"/>
                </a:solidFill>
                <a:latin typeface="Calibri"/>
              </a:rPr>
              <a:t>SLA salida sensible: &lt; 1 hora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MAPA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Las primeras acciones se priorizan por fuga de información, continuidad y ownership.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02920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1356"/>
                </a:solidFill>
                <a:latin typeface="Calibri"/>
              </a:rPr>
              <a:t>Top 6 riesgos — primeros 30 días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93392"/>
            <a:ext cx="109728" cy="347472"/>
          </a:xfrm>
          <a:prstGeom prst="rect">
            <a:avLst/>
          </a:prstGeom>
          <a:solidFill>
            <a:srgbClr val="9B2F2F"/>
          </a:solidFill>
          <a:ln>
            <a:solidFill>
              <a:srgbClr val="9B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Excolaborador con acceso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993392"/>
            <a:ext cx="1005840" cy="310896"/>
          </a:xfrm>
          <a:prstGeom prst="rect">
            <a:avLst/>
          </a:prstGeom>
          <a:solidFill>
            <a:srgbClr val="FFE4E1"/>
          </a:solidFill>
          <a:ln>
            <a:solidFill>
              <a:srgbClr val="FF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99339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9B2F2F"/>
                </a:solidFill>
                <a:latin typeface="Calibri"/>
              </a:rPr>
              <a:t>Crítico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96312"/>
            <a:ext cx="109728" cy="347472"/>
          </a:xfrm>
          <a:prstGeom prst="rect">
            <a:avLst/>
          </a:prstGeom>
          <a:solidFill>
            <a:srgbClr val="9B2F2F"/>
          </a:solidFill>
          <a:ln>
            <a:solidFill>
              <a:srgbClr val="9B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Activos sin responsable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496312"/>
            <a:ext cx="1005840" cy="310896"/>
          </a:xfrm>
          <a:prstGeom prst="rect">
            <a:avLst/>
          </a:prstGeom>
          <a:solidFill>
            <a:srgbClr val="FFE4E1"/>
          </a:solidFill>
          <a:ln>
            <a:solidFill>
              <a:srgbClr val="FF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49631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9B2F2F"/>
                </a:solidFill>
                <a:latin typeface="Calibri"/>
              </a:rPr>
              <a:t>Crítico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99232"/>
            <a:ext cx="109728" cy="347472"/>
          </a:xfrm>
          <a:prstGeom prst="rect">
            <a:avLst/>
          </a:prstGeom>
          <a:solidFill>
            <a:srgbClr val="9B2F2F"/>
          </a:solidFill>
          <a:ln>
            <a:solidFill>
              <a:srgbClr val="9B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9923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Equipos sin MDM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999232"/>
            <a:ext cx="1005840" cy="310896"/>
          </a:xfrm>
          <a:prstGeom prst="rect">
            <a:avLst/>
          </a:prstGeom>
          <a:solidFill>
            <a:srgbClr val="FFE4E1"/>
          </a:solidFill>
          <a:ln>
            <a:solidFill>
              <a:srgbClr val="FF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99923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9B2F2F"/>
                </a:solidFill>
                <a:latin typeface="Calibri"/>
              </a:rPr>
              <a:t>Crítico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02152"/>
            <a:ext cx="109728" cy="347472"/>
          </a:xfrm>
          <a:prstGeom prst="rect">
            <a:avLst/>
          </a:prstGeom>
          <a:solidFill>
            <a:srgbClr val="9B2F2F"/>
          </a:solidFill>
          <a:ln>
            <a:solidFill>
              <a:srgbClr val="9B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Shadow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02152"/>
            <a:ext cx="1005840" cy="310896"/>
          </a:xfrm>
          <a:prstGeom prst="rect">
            <a:avLst/>
          </a:prstGeom>
          <a:solidFill>
            <a:srgbClr val="FFE4E1"/>
          </a:solidFill>
          <a:ln>
            <a:solidFill>
              <a:srgbClr val="FF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50215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9B2F2F"/>
                </a:solidFill>
                <a:latin typeface="Calibri"/>
              </a:rPr>
              <a:t>Crítico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05072"/>
            <a:ext cx="109728" cy="347472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0507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Credenciales compartidas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005072"/>
            <a:ext cx="1005840" cy="310896"/>
          </a:xfrm>
          <a:prstGeom prst="rect">
            <a:avLst/>
          </a:prstGeom>
          <a:solidFill>
            <a:srgbClr val="FFFBE6"/>
          </a:solidFill>
          <a:ln>
            <a:solidFill>
              <a:srgbClr val="FFF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00507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8B6914"/>
                </a:solidFill>
                <a:latin typeface="Calibri"/>
              </a:rPr>
              <a:t>Alto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507992"/>
            <a:ext cx="109728" cy="347472"/>
          </a:xfrm>
          <a:prstGeom prst="rect">
            <a:avLst/>
          </a:prstGeom>
          <a:solidFill>
            <a:srgbClr val="8B6914"/>
          </a:solidFill>
          <a:ln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0799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1356"/>
                </a:solidFill>
                <a:latin typeface="Calibri"/>
              </a:rPr>
              <a:t>RRHH sobrecargado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4507992"/>
            <a:ext cx="1005840" cy="310896"/>
          </a:xfrm>
          <a:prstGeom prst="rect">
            <a:avLst/>
          </a:prstGeom>
          <a:solidFill>
            <a:srgbClr val="FFFBE6"/>
          </a:solidFill>
          <a:ln>
            <a:solidFill>
              <a:srgbClr val="FFF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4507992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8B6914"/>
                </a:solidFill>
                <a:latin typeface="Calibri"/>
              </a:rPr>
              <a:t>Alto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417320"/>
            <a:ext cx="580644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157276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1356"/>
                </a:solidFill>
                <a:latin typeface="Calibri"/>
              </a:rPr>
              <a:t>Respuestas en ejecución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1993392"/>
            <a:ext cx="53492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B2E83"/>
                </a:solidFill>
                <a:latin typeface="Calibri"/>
              </a:rPr>
              <a:t>→  Checklist offboarding y SLA &lt; 1h activos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2496312"/>
            <a:ext cx="53492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B2E83"/>
                </a:solidFill>
                <a:latin typeface="Calibri"/>
              </a:rPr>
              <a:t>→  Inventario 100% con responsable día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999232"/>
            <a:ext cx="53492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B2E83"/>
                </a:solidFill>
                <a:latin typeface="Calibri"/>
              </a:rPr>
              <a:t>→  MDM oleada 1 — Apple primero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502152"/>
            <a:ext cx="53492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B2E83"/>
                </a:solidFill>
                <a:latin typeface="Calibri"/>
              </a:rPr>
              <a:t>→  Política de IA y herramientas aprobadas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005072"/>
            <a:ext cx="53492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B2E83"/>
                </a:solidFill>
                <a:latin typeface="Calibri"/>
              </a:rPr>
              <a:t>→  MFA obligatorio y recertificación trimestral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507992"/>
            <a:ext cx="53492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B2E83"/>
                </a:solidFill>
                <a:latin typeface="Calibri"/>
              </a:rPr>
              <a:t>→  Transferencia formal RRHH →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ROADMAP 30 / 60 / 90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Control primero, implementación después, escalamiento cuando la base ya respira.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2697480"/>
          </a:xfrm>
          <a:prstGeom prst="rect">
            <a:avLst/>
          </a:prstGeom>
          <a:solidFill>
            <a:srgbClr val="EDE8F6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3236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0–30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32369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Control y orden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3236976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Inventario, RACI, MFA, offboarding, stock, baseline Google/Slack, política 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572768"/>
            <a:ext cx="1097280" cy="274320"/>
          </a:xfrm>
          <a:prstGeom prst="rect">
            <a:avLst/>
          </a:prstGeom>
          <a:solidFill>
            <a:srgbClr val="D4F0E8"/>
          </a:solidFill>
          <a:ln>
            <a:solidFill>
              <a:srgbClr val="D4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57276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A6B4A"/>
                </a:solidFill>
                <a:latin typeface="Calibri"/>
              </a:rPr>
              <a:t>En ejecución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688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56616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554480"/>
            <a:ext cx="3236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31–60 DÍAS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764792"/>
            <a:ext cx="32369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Implementación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194560"/>
            <a:ext cx="3236976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MDM oleada 1, SSO/SCIM, piloto Zero Trust, base de conocimiento, pilotos 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572768"/>
            <a:ext cx="109728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57276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4B2E83"/>
                </a:solidFill>
                <a:latin typeface="Calibri"/>
              </a:rPr>
              <a:t>Próximo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4688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C8BAE5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356616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E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554480"/>
            <a:ext cx="32369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4B2E83"/>
                </a:solidFill>
                <a:latin typeface="Calibri"/>
              </a:rPr>
              <a:t>61–90 DÍAS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764792"/>
            <a:ext cx="323697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Escalamiento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194560"/>
            <a:ext cx="3236976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Auditoría accesos, automatización, continuidad, roadmap anual e IA responsable.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1572768"/>
            <a:ext cx="1097280" cy="274320"/>
          </a:xfrm>
          <a:prstGeom prst="rect">
            <a:avLst/>
          </a:prstGeom>
          <a:solidFill>
            <a:srgbClr val="EDE8F6"/>
          </a:solidFill>
          <a:ln>
            <a:solidFill>
              <a:srgbClr val="ED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157276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4B2E83"/>
                </a:solidFill>
                <a:latin typeface="Calibri"/>
              </a:rPr>
              <a:t>Planificado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43400"/>
            <a:ext cx="10789920" cy="749808"/>
          </a:xfrm>
          <a:prstGeom prst="rect">
            <a:avLst/>
          </a:prstGeom>
          <a:solidFill>
            <a:srgbClr val="DDF1F8"/>
          </a:solidFill>
          <a:ln>
            <a:solidFill>
              <a:srgbClr val="D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B2E83"/>
                </a:solidFill>
                <a:latin typeface="Calibri"/>
              </a:rPr>
              <a:t>Resultado esperado día 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64024"/>
            <a:ext cx="104241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E1356"/>
                </a:solidFill>
                <a:latin typeface="Calibri"/>
              </a:rPr>
              <a:t>Función IT medible con KPIs, controles base, dashboard ejecutivo, auditoría de accesos y roadmap anual aprobado.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PRESUPUESTO POR ESCENARIOS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La inversión es gradual: cerrar riesgos primero, escalar después.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4B2E83"/>
                </a:solidFill>
                <a:latin typeface="Calibri"/>
              </a:rPr>
              <a:t>Básico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1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Gobierno, inventario, MFA, offboarding, canal único, política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3200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1356"/>
                </a:solidFill>
                <a:latin typeface="Calibri"/>
              </a:rPr>
              <a:t>USD 0–500/mes
+ hardware cotizado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5020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7B5EA7"/>
                </a:solidFill>
                <a:latin typeface="Calibri"/>
              </a:rPr>
              <a:t>⚠ Mayor trabajo 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3611880" cy="3657600"/>
          </a:xfrm>
          <a:prstGeom prst="rect">
            <a:avLst/>
          </a:prstGeom>
          <a:solidFill>
            <a:srgbClr val="EDE8F6"/>
          </a:solidFill>
          <a:ln>
            <a:solidFill>
              <a:srgbClr val="E2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4B2E83"/>
                </a:solidFill>
                <a:latin typeface="Calibri"/>
              </a:rPr>
              <a:t>Recomendado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84831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Básico + MDM, stock completo, piloto Zero Trust, SSO/SCIM, pilotos 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90672"/>
            <a:ext cx="3200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1356"/>
                </a:solidFill>
                <a:latin typeface="Calibri"/>
              </a:rPr>
              <a:t>MDM USD 4–12.50/disp/mes
Tailscale USD 8/user
Impl. USD 2k–8k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5020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7B5EA7"/>
                </a:solidFill>
                <a:latin typeface="Calibri"/>
              </a:rPr>
              <a:t>⚠ Riesgo bajo, balance costo/seguridad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417320"/>
            <a:ext cx="36118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4B2E83"/>
                </a:solidFill>
                <a:latin typeface="Calibri"/>
              </a:rPr>
              <a:t>Ideal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84831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1356"/>
                </a:solidFill>
                <a:latin typeface="Calibri"/>
              </a:rPr>
              <a:t>Recomendado + SASE, DLP, SIEM, ITSM dedicado, IA corporativa amplia.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090672"/>
            <a:ext cx="3200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1356"/>
                </a:solidFill>
                <a:latin typeface="Calibri"/>
              </a:rPr>
              <a:t>Cotización enterprise
según alcance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95020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7B5EA7"/>
                </a:solidFill>
                <a:latin typeface="Calibri"/>
              </a:rPr>
              <a:t>⚠ Puede sobredimensionar fase inicial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30368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356"/>
                </a:solidFill>
                <a:latin typeface="Calibri"/>
              </a:rPr>
              <a:t>Recomendación: iniciar por el escenario recomendado por fases, validando licenciamiento actual y cotizaciones locales.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VALOR AGREGADO: IA 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IA no es el enfoque central: es un acelerador prudente y controlado.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8191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Pilotos de bajo riesgo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87880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Base de conocimiento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35352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Resumen y clasificación de tickets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2824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Checklists de onboarding/offboarding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30296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54096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Normalización de inventario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7768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E1356"/>
                </a:solidFill>
                <a:latin typeface="Calibri"/>
              </a:rPr>
              <a:t>Análisis de licencias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17320"/>
            <a:ext cx="5486400" cy="3657600"/>
          </a:xfrm>
          <a:prstGeom prst="rect">
            <a:avLst/>
          </a:prstGeom>
          <a:solidFill>
            <a:srgbClr val="FFFBE6"/>
          </a:solidFill>
          <a:ln>
            <a:solidFill>
              <a:srgbClr val="F0D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58191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5A00"/>
                </a:solidFill>
                <a:latin typeface="Calibri"/>
              </a:rPr>
              <a:t>Controles antes de escalar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2087880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2011680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3000"/>
                </a:solidFill>
                <a:latin typeface="Calibri"/>
              </a:rPr>
              <a:t>Política de uso y clasificación de datos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2435352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359152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3000"/>
                </a:solidFill>
                <a:latin typeface="Calibri"/>
              </a:rPr>
              <a:t>Solo herramientas corporativas aprobadas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2782824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706624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3000"/>
                </a:solidFill>
                <a:latin typeface="Calibri"/>
              </a:rPr>
              <a:t>Nunca: SAP, credenciales ni datos sensibles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2" y="3130296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054096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3000"/>
                </a:solidFill>
                <a:latin typeface="Calibri"/>
              </a:rPr>
              <a:t>Revisión humana obligatoria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3477768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3401568"/>
            <a:ext cx="4937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3000"/>
                </a:solidFill>
                <a:latin typeface="Calibri"/>
              </a:rPr>
              <a:t>Agentes críticos pospuestos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94960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356"/>
                </a:solidFill>
                <a:latin typeface="Calibri"/>
              </a:rPr>
              <a:t>La IA entra como acelerador controlado, no como sustituto de gobierno ni como respuesta principal al reto.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B2E83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1064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1E1356"/>
                </a:solidFill>
                <a:latin typeface="Calibri"/>
              </a:rPr>
              <a:t>Una propuesta que se puede leer, presentar y defender.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18488"/>
            <a:ext cx="11064240" cy="25400"/>
          </a:xfrm>
          <a:prstGeom prst="rect">
            <a:avLst/>
          </a:prstGeom>
          <a:solidFill>
            <a:srgbClr val="C8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E1356"/>
                </a:solidFill>
                <a:latin typeface="Calibri"/>
              </a:rPr>
              <a:t>Nuestras 3 prioridades al entrar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87880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57607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E1356"/>
                </a:solidFill>
                <a:latin typeface="Calibri"/>
              </a:rPr>
              <a:t>Transición controlada RRHH → IT y cierre de riesgos críticos desde el día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26792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50592"/>
            <a:ext cx="57607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E1356"/>
                </a:solidFill>
                <a:latin typeface="Calibri"/>
              </a:rPr>
              <a:t>Inventario confiable de activos, usuarios, aplicaciones, licencias y proveedores.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65704"/>
            <a:ext cx="88900" cy="889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9504"/>
            <a:ext cx="57607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E1356"/>
                </a:solidFill>
                <a:latin typeface="Calibri"/>
              </a:rPr>
              <a:t>Operación medible: SLAs, canal único, matriz de accesos, stock y dashboard ejecutivo.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417320"/>
            <a:ext cx="4297680" cy="2880360"/>
          </a:xfrm>
          <a:prstGeom prst="rect">
            <a:avLst/>
          </a:prstGeom>
          <a:solidFill>
            <a:srgbClr val="EDE8F6"/>
          </a:solidFill>
          <a:ln>
            <a:solidFill>
              <a:srgbClr val="DCD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572768"/>
            <a:ext cx="39776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4B2E83"/>
                </a:solidFill>
                <a:latin typeface="Calibri"/>
              </a:rPr>
              <a:t>Propuesta de valor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29968"/>
            <a:ext cx="3977639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356"/>
                </a:solidFill>
                <a:latin typeface="Calibri"/>
              </a:rPr>
              <a:t>Orden operativo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414016"/>
            <a:ext cx="3977639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356"/>
                </a:solidFill>
                <a:latin typeface="Calibri"/>
              </a:rPr>
              <a:t>Seguridad proporcional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798064"/>
            <a:ext cx="3977639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356"/>
                </a:solidFill>
                <a:latin typeface="Calibri"/>
              </a:rPr>
              <a:t>Continuidad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182112"/>
            <a:ext cx="3977639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356"/>
                </a:solidFill>
                <a:latin typeface="Calibri"/>
              </a:rPr>
              <a:t>Productividad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566160"/>
            <a:ext cx="3977639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1356"/>
                </a:solidFill>
                <a:latin typeface="Calibri"/>
              </a:rPr>
              <a:t>Crecimiento escalable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10912"/>
            <a:ext cx="10972800" cy="868680"/>
          </a:xfrm>
          <a:prstGeom prst="rect">
            <a:avLst/>
          </a:prstGeom>
          <a:solidFill>
            <a:srgbClr val="DDF1F8"/>
          </a:solidFill>
          <a:ln>
            <a:solidFill>
              <a:srgbClr val="D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424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E1356"/>
                </a:solidFill>
                <a:latin typeface="Calibri"/>
              </a:rPr>
              <a:t>No buscamos hacer a Paranice burocrática; buscamos que crezca con trazabilidad, seguridad y velocidad.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E92B8"/>
                </a:solidFill>
                <a:latin typeface="Calibri"/>
              </a:rPr>
              <a:t>Paranice · Plan Ejecutivo IT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57432" y="6492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9E92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