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ED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50292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RETO TÉCNICO IT · ANALISTA SR / COORDINADOR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7772400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1E1356"/>
                </a:solidFill>
                <a:latin typeface="Calibri"/>
              </a:rPr>
              <a:t>Construimos el plan IT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1E1356"/>
                </a:solidFill>
                <a:latin typeface="Calibri"/>
              </a:rPr>
              <a:t>que Paranice necesita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1E1356"/>
                </a:solidFill>
                <a:latin typeface="Calibri"/>
              </a:rPr>
              <a:t>para escalar.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7B5EA7"/>
                </a:solidFill>
                <a:latin typeface="Calibri"/>
              </a:rPr>
              <a:t>Gobierno · Seguridad · Continuidad · IA responsable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1">
                <a:solidFill>
                  <a:srgbClr val="9E92B8"/>
                </a:solidFill>
                <a:latin typeface="Calibri"/>
              </a:rPr>
              <a:t>Bajo supervisión de RRHH · Metodología PMP · Agilidad operativa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960120"/>
            <a:ext cx="28346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10972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3716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E1356"/>
                </a:solidFill>
                <a:latin typeface="Calibri"/>
              </a:rPr>
              <a:t>Mayo 2026 · 90 días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AUTORÍA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1945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E1356"/>
                </a:solidFill>
                <a:latin typeface="Calibri"/>
              </a:rPr>
              <a:t>Equipo IT propuesto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DESTINATARIO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0175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E1356"/>
                </a:solidFill>
                <a:latin typeface="Calibri"/>
              </a:rPr>
              <a:t>Paranice · Why Not S.A.S.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12080"/>
            <a:ext cx="1691640" cy="11887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4924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081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indicador 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5212080"/>
            <a:ext cx="1691640" cy="11887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534924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5852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dispositivos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61081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indicador 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5212080"/>
            <a:ext cx="1691640" cy="11887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534924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&lt;1h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852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SLA salida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61081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indicador base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5212080"/>
            <a:ext cx="1691640" cy="11887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34924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852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cifrado meta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61081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indicador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5212080"/>
            <a:ext cx="2834640" cy="1188720"/>
          </a:xfrm>
          <a:prstGeom prst="roundRect">
            <a:avLst>
              <a:gd name="adj" fmla="val 6000"/>
            </a:avLst>
          </a:prstGeom>
          <a:solidFill>
            <a:srgbClr val="1E1356"/>
          </a:solidFill>
          <a:ln w="9525">
            <a:solidFill>
              <a:srgbClr val="1E13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0" y="53492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C8BAE5"/>
                </a:solidFill>
                <a:latin typeface="Calibri"/>
              </a:rPr>
              <a:t>Resultado día 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62356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Función IT medible, segura y escalable.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LECTURA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El reto no es técnico: es crear gobierno IT bajo supervisión de RRHH.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0800" cy="2286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RRHH custodia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Resuelve accesos, equipos y eventos laborales con conocimiento parcial.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783080"/>
            <a:ext cx="50800" cy="2286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9659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NECESIDAD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94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Ownership técnico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24328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IT asume activos, accesos, licencias, seguridad, soporte y proveedores.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8308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50800" cy="2286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659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RESULTADO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Control sin fricción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24328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RRHH mantiene supervisión laboral; IT ejecuta técnicamente con evidencia.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6974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6974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348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DDF1F8"/>
          </a:solidFill>
          <a:ln w="9525">
            <a:solidFill>
              <a:srgbClr val="DD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24F6B"/>
                </a:solidFill>
                <a:latin typeface="Calibri"/>
              </a:rPr>
              <a:t>Principio de diseño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E1356"/>
                </a:solidFill>
                <a:latin typeface="Calibri"/>
              </a:rPr>
              <a:t>No reemplazamos a RRHH: le quitamos la carga técnica. RRHH supervisa los eventos laborales; IT profesionaliza ejecución, trazabilidad y seguridad.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BASE CUANTIFICADA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La primera decisión gerencial: convertir supuestos en indicadores controlables.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96596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246888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Parque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7249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dispositivos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4056" y="182880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4056" y="196596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4056" y="246888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Apple aprox.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056" y="27249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80% del parque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0056" y="182880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6" y="196596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246888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Windows aprox.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0056" y="27249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20% del parque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6" y="182880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6056" y="196596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6056" y="246888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Stock objetivo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6" y="27249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10% inicial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92056" y="182880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92056" y="196596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4B2E83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2056" y="246888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1E1356"/>
                </a:solidFill>
                <a:latin typeface="Calibri"/>
              </a:rPr>
              <a:t>Punto reposición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2056" y="27249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0" i="0">
                <a:solidFill>
                  <a:srgbClr val="9E92B8"/>
                </a:solidFill>
                <a:latin typeface="Calibri"/>
              </a:rPr>
              <a:t>umbral mínimo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611880"/>
            <a:ext cx="110642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794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E1356"/>
                </a:solidFill>
                <a:latin typeface="Calibri"/>
              </a:rPr>
              <a:t>Metas de control medibles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290060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" y="4206240"/>
            <a:ext cx="1049731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Día 30 — 100% de activos, usuarios, aplicaciones y licencias críticas inventariadas.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674108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" y="4590288"/>
            <a:ext cx="1049731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Día 60 — 85% de equipos bajo MDM o con plan de enrolamiento.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058156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4974336"/>
            <a:ext cx="1049731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Día 90 — 95% de endpoints cifrados y con políticas base aplicadas.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442204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" y="5358384"/>
            <a:ext cx="1049731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Offboarding sensible — revocación de accesos en menos de 1 hora.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MODELO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PMP ordena la dirección; agilidad permite cerrar riesgos desde la primera semana.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35758" cy="237744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0800" cy="2377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2242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PMP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22242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Marco rector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222427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Alcance, riesgos, stakeholders, presupuesto y decisiones ejecutivas.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7278" y="1783080"/>
            <a:ext cx="263575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7278" y="1783080"/>
            <a:ext cx="50800" cy="2377440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5878" y="1965960"/>
            <a:ext cx="22242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Calibri"/>
              </a:rPr>
              <a:t>KANBAN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5878" y="2194560"/>
            <a:ext cx="22242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Operación diaria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5878" y="2624328"/>
            <a:ext cx="222427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Canal único para solicitudes, soporte, bloqueos y seguimiento.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83080"/>
            <a:ext cx="263575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83080"/>
            <a:ext cx="50800" cy="2377440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1965960"/>
            <a:ext cx="22242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Calibri"/>
              </a:rPr>
              <a:t>ITIL 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2194560"/>
            <a:ext cx="22242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Servicios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2624328"/>
            <a:ext cx="222427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Incidentes, requerimientos, cambios y base de conocimiento.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4554" y="1783080"/>
            <a:ext cx="263575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4554" y="1783080"/>
            <a:ext cx="50800" cy="2377440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3154" y="1965960"/>
            <a:ext cx="22242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Calibri"/>
              </a:rPr>
              <a:t>SEGURIDAD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154" y="2194560"/>
            <a:ext cx="22242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Defensa en capas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3154" y="2624328"/>
            <a:ext cx="222427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NIST CSF, Zero Trust, MDM, IAM, MFA y mínimo privilegio.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348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D4F0E8"/>
          </a:solidFill>
          <a:ln w="9525">
            <a:solidFill>
              <a:srgbClr val="D4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9943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A6B4A"/>
                </a:solidFill>
                <a:latin typeface="Calibri"/>
              </a:rPr>
              <a:t>Separación de responsabilidades — RRHH y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920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E1356"/>
                </a:solidFill>
                <a:latin typeface="Calibri"/>
              </a:rPr>
              <a:t>RRHH conserva supervisión del rol y eventos laborales. IT tiene autoridad técnica sobre accesos, activos, licencias, seguridad y proveedores. Esa separación evita vacíos de responsabilidad.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TRANSICIÓN OPERATIVA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La transición RRHH → IT es respetuosa, supervisada y medible.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014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0800" cy="26517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1899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DÍAS 1–5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218998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Entender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2189988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Mapear qué administra RRHH: accesos, proveedores, licencias, inventarios y dolores.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8708" y="1783080"/>
            <a:ext cx="26014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8708" y="1783080"/>
            <a:ext cx="50800" cy="26517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7308" y="1965960"/>
            <a:ext cx="21899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DÍAS 1–10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7308" y="2194560"/>
            <a:ext cx="218998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Contener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7308" y="2624328"/>
            <a:ext cx="2189988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MFA admins, cuentas nominales, usuarios activos vs colaboradores y checklist temporal.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783080"/>
            <a:ext cx="2601468" cy="2651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783080"/>
            <a:ext cx="50800" cy="26517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965960"/>
            <a:ext cx="21899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DÍAS 10–30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194560"/>
            <a:ext cx="218998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Transferir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624328"/>
            <a:ext cx="2189988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IT asume administración técnica; RRHH queda como solicitante/aprobador.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783080"/>
            <a:ext cx="26014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8844" y="1783080"/>
            <a:ext cx="50800" cy="26517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7444" y="1965960"/>
            <a:ext cx="218998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DÍAS 31–60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7444" y="2194560"/>
            <a:ext cx="218998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Estabilizar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7444" y="2624328"/>
            <a:ext cx="2189988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Automatizar, medir SLAs, ejecutar simulacro y ajustar gobierno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00600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DDF1F8"/>
          </a:solidFill>
          <a:ln w="9525">
            <a:solidFill>
              <a:srgbClr val="DD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0060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124F6B"/>
                </a:solidFill>
                <a:latin typeface="Calibri"/>
              </a:rPr>
              <a:t>RRHH supervisa eventos laborales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800600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80060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IT ejecuta controles técnicos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800600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FFFBE6"/>
          </a:solidFill>
          <a:ln w="9525">
            <a:solidFill>
              <a:srgbClr val="FFF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480060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7A5A00"/>
                </a:solidFill>
                <a:latin typeface="Calibri"/>
              </a:rPr>
              <a:t>Finanzas valida activos y licencias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DDF1F8"/>
          </a:solidFill>
          <a:ln w="9525">
            <a:solidFill>
              <a:srgbClr val="DD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60527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24F6B"/>
                </a:solidFill>
                <a:latin typeface="Calibri"/>
              </a:rPr>
              <a:t>Resultado intermedio día 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97880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E1356"/>
                </a:solidFill>
                <a:latin typeface="Calibri"/>
              </a:rPr>
              <a:t>Gobierno IT con backlog, RACI y métricas. RRHH libera carga técnica y conserva foco en personas.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CONTROL DE ACTIVOS Y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El stock de seguridad no es inventario muerto: es continuidad operativa.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FÓRMULA INICIAL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Stock = ingresos en lead time + fallas/reparaciones + buffer operativo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4203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9E92B8"/>
                </a:solidFill>
                <a:latin typeface="Calibri"/>
              </a:rPr>
              <a:t>Punto de partida: 10% de 79 = 8 equipos. Mezcla recomendada: 6 Apple + 2 Windows.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5376" y="3017520"/>
            <a:ext cx="228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9397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9397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Recepción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3017520"/>
            <a:ext cx="228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989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4B2E83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MDM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3017520"/>
            <a:ext cx="228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8581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8581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Asignación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3017520"/>
            <a:ext cx="228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3173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3173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Soporte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3017520"/>
            <a:ext cx="228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7765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7765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Devolución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94976" y="3017520"/>
            <a:ext cx="228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23576" y="3017520"/>
            <a:ext cx="1417320" cy="8686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23576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Baja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110642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297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1E1356"/>
                </a:solidFill>
                <a:latin typeface="Calibri"/>
              </a:rPr>
              <a:t>Metas por ola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747260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4663440"/>
            <a:ext cx="1049731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Día 30 — inventario 100% con responsable, serial, estado, SO, garantía y criticidad.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094732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" y="5010912"/>
            <a:ext cx="1049731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Día 60 — 8 equipos de stock disponibles o compra en curso.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442204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9848" y="5358384"/>
            <a:ext cx="1049731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Día 90 — ciclo de vida activo con punto de reposición menor a 4 equipos.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C8BAE5"/>
                </a:solidFill>
                <a:latin typeface="Calibri"/>
              </a:rPr>
              <a:t>SEGURIDAD DE ACCESOS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 seguridad sigue identidad, rol, dispositivo y contexto — no la 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25400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37760" y="2651760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26517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GOOGLE WORKSPACE</a:t>
            </a:r>
          </a:p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Identity Provider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Slack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94560" y="2948940.0"/>
            <a:ext cx="2743200" cy="342900.0"/>
          </a:xfrm>
          <a:prstGeom prst="line">
            <a:avLst/>
          </a:prstGeom>
          <a:ln w="9525">
            <a:solidFill>
              <a:srgbClr val="7B5E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352044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2044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194560" y="3291840.0"/>
            <a:ext cx="2743200" cy="480060.0"/>
          </a:xfrm>
          <a:prstGeom prst="line">
            <a:avLst/>
          </a:prstGeom>
          <a:ln w="9525">
            <a:solidFill>
              <a:srgbClr val="7B5E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434340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Adobe CC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194560" y="3291840.0"/>
            <a:ext cx="2743200" cy="1303020.0"/>
          </a:xfrm>
          <a:prstGeom prst="line">
            <a:avLst/>
          </a:prstGeom>
          <a:ln w="9525">
            <a:solidFill>
              <a:srgbClr val="7B5E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12680" y="269748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26974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ClickUp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269480" y="2948940.0"/>
            <a:ext cx="2743200" cy="342900.0"/>
          </a:xfrm>
          <a:prstGeom prst="line">
            <a:avLst/>
          </a:prstGeom>
          <a:ln w="9525">
            <a:solidFill>
              <a:srgbClr val="7B5E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012680" y="352044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Drive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69480" y="3291840.0"/>
            <a:ext cx="2743200" cy="480060.0"/>
          </a:xfrm>
          <a:prstGeom prst="line">
            <a:avLst/>
          </a:prstGeom>
          <a:ln w="9525">
            <a:solidFill>
              <a:srgbClr val="7B5E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012680" y="434340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43434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Gmail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69480" y="3291840.0"/>
            <a:ext cx="2743200" cy="1303020.0"/>
          </a:xfrm>
          <a:prstGeom prst="line">
            <a:avLst/>
          </a:prstGeom>
          <a:ln w="9525">
            <a:solidFill>
              <a:srgbClr val="7B5E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029200"/>
            <a:ext cx="3514344" cy="11887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166360"/>
            <a:ext cx="314858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C8BAE5"/>
                </a:solidFill>
                <a:latin typeface="Calibri"/>
              </a:rPr>
              <a:t>MFA obligatorio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86400"/>
            <a:ext cx="314858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8BAE5"/>
                </a:solidFill>
                <a:latin typeface="Calibri"/>
              </a:rPr>
              <a:t>Admins, RRHH, Finanzas, SAP, Adobe, Google y Slack.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7304" y="5029200"/>
            <a:ext cx="3514344" cy="11887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0184" y="5166360"/>
            <a:ext cx="314858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C8BAE5"/>
                </a:solidFill>
                <a:latin typeface="Calibri"/>
              </a:rPr>
              <a:t>Roles y privilegio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0184" y="5486400"/>
            <a:ext cx="314858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8BAE5"/>
                </a:solidFill>
                <a:latin typeface="Calibri"/>
              </a:rPr>
              <a:t>Mínimo privilegio y aprobación por líder de área.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25968" y="5029200"/>
            <a:ext cx="3514344" cy="1188720"/>
          </a:xfrm>
          <a:prstGeom prst="roundRect">
            <a:avLst>
              <a:gd name="adj" fmla="val 6000"/>
            </a:avLst>
          </a:prstGeom>
          <a:solidFill>
            <a:srgbClr val="2D1F5E"/>
          </a:solidFill>
          <a:ln w="9525"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8848" y="5166360"/>
            <a:ext cx="314858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C8BAE5"/>
                </a:solidFill>
                <a:latin typeface="Calibri"/>
              </a:rPr>
              <a:t>SSO / SCIM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8848" y="5486400"/>
            <a:ext cx="314858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8BAE5"/>
                </a:solidFill>
                <a:latin typeface="Calibri"/>
              </a:rPr>
              <a:t>Google como IdP. SCIM donde aplique. Recertificación trimestral.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C8BAE5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C8BAE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VPN VS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La VPN es la escalera. Zero Trust es el destino.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555570"/>
                </a:solidFill>
                <a:latin typeface="Calibri"/>
              </a:rPr>
              <a:t>VPN Tradicional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984248"/>
            <a:ext cx="1188720" cy="292608"/>
          </a:xfrm>
          <a:prstGeom prst="roundRect">
            <a:avLst>
              <a:gd name="adj" fmla="val 6000"/>
            </a:avLst>
          </a:prstGeom>
          <a:solidFill>
            <a:srgbClr val="E8E5EF"/>
          </a:solidFill>
          <a:ln w="9525">
            <a:solidFill>
              <a:srgbClr val="E8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98424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1" i="0">
                <a:solidFill>
                  <a:srgbClr val="555570"/>
                </a:solidFill>
                <a:latin typeface="Calibri"/>
              </a:rPr>
              <a:t>TRANSICIÓN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44140"/>
            <a:ext cx="63500" cy="635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5603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44466"/>
                </a:solidFill>
                <a:latin typeface="Calibri"/>
              </a:rPr>
              <a:t>Conecta al túnel de red completo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101340"/>
            <a:ext cx="63500" cy="635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175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44466"/>
                </a:solidFill>
                <a:latin typeface="Calibri"/>
              </a:rPr>
              <a:t>Confianza implícita dentro del perímetro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58540"/>
            <a:ext cx="63500" cy="635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747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44466"/>
                </a:solidFill>
                <a:latin typeface="Calibri"/>
              </a:rPr>
              <a:t>Difícil revocar acceso granular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015740"/>
            <a:ext cx="63500" cy="635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9319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44466"/>
                </a:solidFill>
                <a:latin typeface="Calibri"/>
              </a:rPr>
              <a:t>Útil para SAP y recursos on-premise hoy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01752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178308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B8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1E1356"/>
                </a:solidFill>
                <a:latin typeface="Calibri"/>
              </a:rPr>
              <a:t>Zero Trust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78440" y="1984248"/>
            <a:ext cx="1005840" cy="292608"/>
          </a:xfrm>
          <a:prstGeom prst="roundRect">
            <a:avLst>
              <a:gd name="adj" fmla="val 6000"/>
            </a:avLst>
          </a:prstGeom>
          <a:solidFill>
            <a:srgbClr val="4B2E83"/>
          </a:solidFill>
          <a:ln w="9525">
            <a:solidFill>
              <a:srgbClr val="4B2E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78440" y="1984248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2644140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5603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Conecta al recurso exacto que necesitas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3101340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8" y="30175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Verifica usuario + dispositivo + contexto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3558540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34747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Revocación granular y en tiempo real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4015740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13448" y="3931920"/>
            <a:ext cx="43708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1356"/>
                </a:solidFill>
                <a:latin typeface="Calibri"/>
              </a:rPr>
              <a:t>Cloudflare Zero Trust o Tailscale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120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DDF1F8"/>
          </a:solidFill>
          <a:ln w="9525">
            <a:solidFill>
              <a:srgbClr val="DD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37667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24F6B"/>
                </a:solidFill>
                <a:latin typeface="Calibri"/>
              </a:rPr>
              <a:t>Recomendación operativa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E1356"/>
                </a:solidFill>
                <a:latin typeface="Calibri"/>
              </a:rPr>
              <a:t>Evaluamos Cloudflare Zero Trust o Tailscale según arquitectura real, SAP, presupuesto y UX. VPN como puente → Piloto ZT día 45 → ZT en producción día 90.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ONBOARDING SIN STOCK DISPONIBLE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Si entra alguien mañana y no hay equipo — ejecutamos este protocolo.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567178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1" i="0">
                <a:solidFill>
                  <a:srgbClr val="C8BAE5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109978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Evaluar criticidad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109978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B5EA7"/>
                </a:solidFill>
                <a:latin typeface="Calibri"/>
              </a:rPr>
              <a:t>¿Impacta ventas, operación o finanzas? Determina urgencia y modo de respuesta.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4106" y="3108960"/>
            <a:ext cx="2377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138" y="1783080"/>
            <a:ext cx="2567178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8738" y="192024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1" i="0">
                <a:solidFill>
                  <a:srgbClr val="C8BAE5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8738" y="2514600"/>
            <a:ext cx="2109978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Buscar recuperable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8738" y="3063240"/>
            <a:ext cx="2109978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B5EA7"/>
                </a:solidFill>
                <a:latin typeface="Calibri"/>
              </a:rPr>
              <a:t>Equipos devueltos, reparaciones activas o préstamo temporal del inventario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5604" y="3108960"/>
            <a:ext cx="2377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1783080"/>
            <a:ext cx="2567178" cy="3154680"/>
          </a:xfrm>
          <a:prstGeom prst="roundRect">
            <a:avLst>
              <a:gd name="adj" fmla="val 6000"/>
            </a:avLst>
          </a:prstGeom>
          <a:solidFill>
            <a:srgbClr val="FFFBE6"/>
          </a:solidFill>
          <a:ln w="9525">
            <a:solidFill>
              <a:srgbClr val="F0D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0236" y="192024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1" i="0">
                <a:solidFill>
                  <a:srgbClr val="B8860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0236" y="2514600"/>
            <a:ext cx="2109978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Excepción controlada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0236" y="3063240"/>
            <a:ext cx="2109978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B5EA7"/>
                </a:solidFill>
                <a:latin typeface="Calibri"/>
              </a:rPr>
              <a:t>BYOD solo vía web, MFA obligatorio, sin sync local, fecha límite documentada.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7102" y="3108960"/>
            <a:ext cx="2377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3134" y="1783080"/>
            <a:ext cx="2567178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1734" y="192024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1" i="0">
                <a:solidFill>
                  <a:srgbClr val="C8BAE5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1734" y="2514600"/>
            <a:ext cx="2109978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Compra express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1734" y="3063240"/>
            <a:ext cx="2109978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B5EA7"/>
                </a:solidFill>
                <a:latin typeface="Calibri"/>
              </a:rPr>
              <a:t>Registro del riesgo, aprobación Finanzas, cierre al llegar el equipo con MDM.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1E1356"/>
          </a:solidFill>
          <a:ln w="9525">
            <a:solidFill>
              <a:srgbClr val="1E13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8523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C8BAE5"/>
                </a:solidFill>
                <a:latin typeface="Calibri"/>
              </a:rPr>
              <a:t>Principio irrenunciable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55955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Toda excepción tiene dueño visible, fecha límite y control de datos. Sin estas tres condiciones, no existe la excepción.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PROTOCOLO DE OFFBOARDING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El caso del comercial: cada minuto cuenta, cada paso deja evidencia.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E4E1"/>
          </a:solidFill>
          <a:ln w="9525">
            <a:solidFill>
              <a:srgbClr val="F4C7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9B2F2F"/>
                </a:solidFill>
                <a:latin typeface="Calibri"/>
              </a:rPr>
              <a:t>Riesgos activos ahora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87752"/>
            <a:ext cx="76200" cy="7620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9B2F2F"/>
                </a:solidFill>
                <a:latin typeface="Calibri"/>
              </a:rPr>
              <a:t>Gmail corporativo activo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36391"/>
            <a:ext cx="76200" cy="7620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71799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9B2F2F"/>
                </a:solidFill>
                <a:latin typeface="Calibri"/>
              </a:rPr>
              <a:t>Slack con conversaciones internas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85032"/>
            <a:ext cx="76200" cy="7620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9B2F2F"/>
                </a:solidFill>
                <a:latin typeface="Calibri"/>
              </a:rPr>
              <a:t>Drive con piezas de marca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33672"/>
            <a:ext cx="76200" cy="7620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9B2F2F"/>
                </a:solidFill>
                <a:latin typeface="Calibri"/>
              </a:rPr>
              <a:t>Adobe Creative Cloud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782311"/>
            <a:ext cx="76200" cy="7620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19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9B2F2F"/>
                </a:solidFill>
                <a:latin typeface="Calibri"/>
              </a:rPr>
              <a:t>MacBook y celular corporativos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30952"/>
            <a:ext cx="76200" cy="7620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663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9B2F2F"/>
                </a:solidFill>
                <a:latin typeface="Calibri"/>
              </a:rPr>
              <a:t>Suplantación, fuga o borrado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1783080"/>
            <a:ext cx="73152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965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1E1356"/>
                </a:solidFill>
                <a:latin typeface="Calibri"/>
              </a:rPr>
              <a:t>Protocolo de ejecución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78440" y="1947672"/>
            <a:ext cx="1051560" cy="320040"/>
          </a:xfrm>
          <a:prstGeom prst="roundRect">
            <a:avLst>
              <a:gd name="adj" fmla="val 6000"/>
            </a:avLst>
          </a:prstGeom>
          <a:solidFill>
            <a:srgbClr val="4B2E83"/>
          </a:solidFill>
          <a:ln w="9525">
            <a:solidFill>
              <a:srgbClr val="4B2E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1947672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SLA &lt; 1h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2514600"/>
            <a:ext cx="36576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4688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1E1356"/>
                </a:solidFill>
                <a:latin typeface="Calibri"/>
              </a:rPr>
              <a:t>RRHH notifica salida y criticidad del rol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2514600"/>
            <a:ext cx="132588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25146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4B2E83"/>
                </a:solidFill>
                <a:latin typeface="Calibri"/>
              </a:rPr>
              <a:t>RRHH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308152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0815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03580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1E1356"/>
                </a:solidFill>
                <a:latin typeface="Calibri"/>
              </a:rPr>
              <a:t>IT suspende Google Workspace y revoca sesiones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95560" y="3081528"/>
            <a:ext cx="132588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081528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4B2E83"/>
                </a:solidFill>
                <a:latin typeface="Calibri"/>
              </a:rPr>
              <a:t>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648456"/>
            <a:ext cx="36576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36484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3602736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1E1356"/>
                </a:solidFill>
                <a:latin typeface="Calibri"/>
              </a:rPr>
              <a:t>IT cierra Slack, Adobe, ClickUp y SAP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3648456"/>
            <a:ext cx="132588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3648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4B2E83"/>
                </a:solidFill>
                <a:latin typeface="Calibri"/>
              </a:rPr>
              <a:t>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0" y="4215384"/>
            <a:ext cx="36576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421538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169664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1E1356"/>
                </a:solidFill>
                <a:latin typeface="Calibri"/>
              </a:rPr>
              <a:t>IT transfiere Drive y archivos de marca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95560" y="4215384"/>
            <a:ext cx="132588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5560" y="4215384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4B2E83"/>
                </a:solidFill>
                <a:latin typeface="Calibri"/>
              </a:rPr>
              <a:t>IT + RRHH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0" y="4782312"/>
            <a:ext cx="36576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47823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473659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1E1356"/>
                </a:solidFill>
                <a:latin typeface="Calibri"/>
              </a:rPr>
              <a:t>MDM bloquea MacBook y celular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195560" y="4782312"/>
            <a:ext cx="132588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95560" y="4782312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4B2E83"/>
                </a:solidFill>
                <a:latin typeface="Calibri"/>
              </a:rPr>
              <a:t>IT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0" y="5349240"/>
            <a:ext cx="36576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0" y="5349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4B2E83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53035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1E1356"/>
                </a:solidFill>
                <a:latin typeface="Calibri"/>
              </a:rPr>
              <a:t>Finanzas cierra activo y documenta evidencia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5560" y="5349240"/>
            <a:ext cx="1325880" cy="3657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5560" y="534924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4B2E83"/>
                </a:solidFill>
                <a:latin typeface="Calibri"/>
              </a:rPr>
              <a:t>Finanzas + 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14476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0" i="1">
                <a:solidFill>
                  <a:srgbClr val="7B5EA7"/>
                </a:solidFill>
                <a:latin typeface="Calibri"/>
              </a:rPr>
              <a:t>Evidencia trazable — cada paso queda registrado en ClickUp con dueño y timestamp.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MAPA DE RIESGOS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Las primeras acciones se priorizan por fuga de información, continuidad y ownership.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34924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1E1356"/>
                </a:solidFill>
                <a:latin typeface="Calibri"/>
              </a:rPr>
              <a:t>Top 6 — primeros 30 días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800" cy="36576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Excolaborador con acceso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14600"/>
            <a:ext cx="1143000" cy="365760"/>
          </a:xfrm>
          <a:prstGeom prst="roundRect">
            <a:avLst>
              <a:gd name="adj" fmla="val 6000"/>
            </a:avLst>
          </a:prstGeom>
          <a:solidFill>
            <a:srgbClr val="FFE4E1"/>
          </a:solidFill>
          <a:ln w="9525">
            <a:solidFill>
              <a:srgbClr val="FFE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9B2F2F"/>
                </a:solidFill>
                <a:latin typeface="Calibri"/>
              </a:rPr>
              <a:t>Crítico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81528"/>
            <a:ext cx="50800" cy="36576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3580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Activos sin responsable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081528"/>
            <a:ext cx="1143000" cy="365760"/>
          </a:xfrm>
          <a:prstGeom prst="roundRect">
            <a:avLst>
              <a:gd name="adj" fmla="val 6000"/>
            </a:avLst>
          </a:prstGeom>
          <a:solidFill>
            <a:srgbClr val="FFE4E1"/>
          </a:solidFill>
          <a:ln w="9525">
            <a:solidFill>
              <a:srgbClr val="FFE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081528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9B2F2F"/>
                </a:solidFill>
                <a:latin typeface="Calibri"/>
              </a:rPr>
              <a:t>Crítico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48456"/>
            <a:ext cx="50800" cy="36576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602736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Equipos sin MDM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648456"/>
            <a:ext cx="1143000" cy="365760"/>
          </a:xfrm>
          <a:prstGeom prst="roundRect">
            <a:avLst>
              <a:gd name="adj" fmla="val 6000"/>
            </a:avLst>
          </a:prstGeom>
          <a:solidFill>
            <a:srgbClr val="FFE4E1"/>
          </a:solidFill>
          <a:ln w="9525">
            <a:solidFill>
              <a:srgbClr val="FFE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648456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9B2F2F"/>
                </a:solidFill>
                <a:latin typeface="Calibri"/>
              </a:rPr>
              <a:t>Crítico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15384"/>
            <a:ext cx="50800" cy="365760"/>
          </a:xfrm>
          <a:prstGeom prst="rect">
            <a:avLst/>
          </a:prstGeom>
          <a:solidFill>
            <a:srgbClr val="9B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6966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Shadow 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4215384"/>
            <a:ext cx="1143000" cy="365760"/>
          </a:xfrm>
          <a:prstGeom prst="roundRect">
            <a:avLst>
              <a:gd name="adj" fmla="val 6000"/>
            </a:avLst>
          </a:prstGeom>
          <a:solidFill>
            <a:srgbClr val="FFE4E1"/>
          </a:solidFill>
          <a:ln w="9525">
            <a:solidFill>
              <a:srgbClr val="FFE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215384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9B2F2F"/>
                </a:solidFill>
                <a:latin typeface="Calibri"/>
              </a:rPr>
              <a:t>Crítico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82312"/>
            <a:ext cx="50800" cy="36576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Credenciales compartidas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782312"/>
            <a:ext cx="1143000" cy="365760"/>
          </a:xfrm>
          <a:prstGeom prst="roundRect">
            <a:avLst>
              <a:gd name="adj" fmla="val 6000"/>
            </a:avLst>
          </a:prstGeom>
          <a:solidFill>
            <a:srgbClr val="FFFBE6"/>
          </a:solidFill>
          <a:ln w="9525">
            <a:solidFill>
              <a:srgbClr val="FFF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782312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7A5A00"/>
                </a:solidFill>
                <a:latin typeface="Calibri"/>
              </a:rPr>
              <a:t>Alto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49240"/>
            <a:ext cx="50800" cy="36576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3035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RRHH sobrecargado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5349240"/>
            <a:ext cx="1143000" cy="365760"/>
          </a:xfrm>
          <a:prstGeom prst="roundRect">
            <a:avLst>
              <a:gd name="adj" fmla="val 6000"/>
            </a:avLst>
          </a:prstGeom>
          <a:solidFill>
            <a:srgbClr val="FFFBE6"/>
          </a:solidFill>
          <a:ln w="9525">
            <a:solidFill>
              <a:srgbClr val="FFF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5349240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7A5A00"/>
                </a:solidFill>
                <a:latin typeface="Calibri"/>
              </a:rPr>
              <a:t>Alto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1783080"/>
            <a:ext cx="553212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965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1E1356"/>
                </a:solidFill>
                <a:latin typeface="Calibri"/>
              </a:rPr>
              <a:t>Respuestas en ejecución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4688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B2E83"/>
                </a:solidFill>
                <a:latin typeface="Calibri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4688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Checklist offboarding y SLA &lt; 1h activos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035808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B2E83"/>
                </a:solidFill>
                <a:latin typeface="Calibr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30358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Inventario 100% con responsable día 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602736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B2E83"/>
                </a:solidFill>
                <a:latin typeface="Calibr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6027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MDM oleada 1 — Apple primero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169664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B2E83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169664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Política de IA y herramientas aprobadas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36592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B2E83"/>
                </a:solidFill>
                <a:latin typeface="Calibri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73659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MFA obligatorio y recertificación trimestral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530352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 i="0">
                <a:solidFill>
                  <a:srgbClr val="4B2E83"/>
                </a:solidFill>
                <a:latin typeface="Calibr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53035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0" i="0">
                <a:solidFill>
                  <a:srgbClr val="1E1356"/>
                </a:solidFill>
                <a:latin typeface="Calibri"/>
              </a:rPr>
              <a:t>Transferencia formal RRHH → 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ROADMAP 30 / 60 / 90 DÍAS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Control primero, implementación después, escalamiento cuando la base ya respira.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453384" cy="274320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0800" cy="274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04190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0–30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04190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Control y orden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3041904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Inventario, RACI, MFA, offboarding, stock, baseline Google/Slack, política 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6144" y="1920240"/>
            <a:ext cx="1188720" cy="292608"/>
          </a:xfrm>
          <a:prstGeom prst="roundRect">
            <a:avLst>
              <a:gd name="adj" fmla="val 6000"/>
            </a:avLst>
          </a:prstGeom>
          <a:solidFill>
            <a:srgbClr val="D4F0E8"/>
          </a:solidFill>
          <a:ln w="9525">
            <a:solidFill>
              <a:srgbClr val="D4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6144" y="19202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1" i="0">
                <a:solidFill>
                  <a:srgbClr val="1A6B4A"/>
                </a:solidFill>
                <a:latin typeface="Calibri"/>
              </a:rPr>
              <a:t>En ejecución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7744" y="27432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7784" y="1783080"/>
            <a:ext cx="345338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7784" y="1783080"/>
            <a:ext cx="50800" cy="274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6384" y="1965960"/>
            <a:ext cx="304190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31–60 DÍAS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6384" y="2194560"/>
            <a:ext cx="304190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Implementación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6384" y="2624328"/>
            <a:ext cx="3041904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MDM oleada 1, SSO/SCIM, piloto Zero Trust, base de conocimiento, pilotos 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5288" y="1920240"/>
            <a:ext cx="1188720" cy="292608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5288" y="19202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1" i="0">
                <a:solidFill>
                  <a:srgbClr val="4B2E83"/>
                </a:solidFill>
                <a:latin typeface="Calibri"/>
              </a:rPr>
              <a:t>Próximo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6888" y="27432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i="0">
                <a:solidFill>
                  <a:srgbClr val="C8BAE5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6928" y="1783080"/>
            <a:ext cx="345338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6928" y="1783080"/>
            <a:ext cx="50800" cy="274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5528" y="1965960"/>
            <a:ext cx="304190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61–90 DÍAS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5528" y="2194560"/>
            <a:ext cx="304190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Escalamiento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5528" y="2624328"/>
            <a:ext cx="3041904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B5EA7"/>
                </a:solidFill>
                <a:latin typeface="Calibri"/>
              </a:rPr>
              <a:t>Auditoría de accesos, automatización, continuidad, roadmap anual e IA responsable.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14432" y="1920240"/>
            <a:ext cx="1188720" cy="292608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EDE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14432" y="19202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1" i="0">
                <a:solidFill>
                  <a:srgbClr val="4B2E83"/>
                </a:solidFill>
                <a:latin typeface="Calibri"/>
              </a:rPr>
              <a:t>Planificado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DDF1F8"/>
          </a:solidFill>
          <a:ln w="9525">
            <a:solidFill>
              <a:srgbClr val="DD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05663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124F6B"/>
                </a:solidFill>
                <a:latin typeface="Calibri"/>
              </a:rPr>
              <a:t>Resultado esperado día 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E1356"/>
                </a:solidFill>
                <a:latin typeface="Calibri"/>
              </a:rPr>
              <a:t>Función IT medible con KPIs, controles base aplicados, dashboard ejecutivo, auditoría de accesos y roadmap anual aprobado.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PRESUPUESTO POR ESCENARIOS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La inversión es gradual: cerrar riesgos primero, escalar después.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453384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29047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4B2E83"/>
                </a:solidFill>
                <a:latin typeface="Calibri"/>
              </a:rPr>
              <a:t>Básico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88920"/>
            <a:ext cx="2904744" cy="1905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INCLUYE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04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1356"/>
                </a:solidFill>
                <a:latin typeface="Calibri"/>
              </a:rPr>
              <a:t>Gobierno, inventario, MFA, offboarding, canal único, política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COSTO REFERENCIAL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290474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USD 0–500 / mes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+ hardware cotizado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12080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RIESGO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290474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B5EA7"/>
                </a:solidFill>
                <a:latin typeface="Calibri"/>
              </a:rPr>
              <a:t>Mayor trabajo manual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7784" y="2011680"/>
            <a:ext cx="3453384" cy="402336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B8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17236" y="1847088"/>
            <a:ext cx="1554480" cy="329184"/>
          </a:xfrm>
          <a:prstGeom prst="roundRect">
            <a:avLst>
              <a:gd name="adj" fmla="val 6000"/>
            </a:avLst>
          </a:prstGeom>
          <a:solidFill>
            <a:srgbClr val="4B2E83"/>
          </a:solidFill>
          <a:ln w="9525">
            <a:solidFill>
              <a:srgbClr val="4B2E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7236" y="1847088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RECOMENDADO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2104" y="2240280"/>
            <a:ext cx="29047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4B2E83"/>
                </a:solidFill>
                <a:latin typeface="Calibri"/>
              </a:rPr>
              <a:t>Recomendado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2104" y="2788920"/>
            <a:ext cx="2904744" cy="1905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2104" y="2880360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INCLUYE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2104" y="3108960"/>
            <a:ext cx="2904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1356"/>
                </a:solidFill>
                <a:latin typeface="Calibri"/>
              </a:rPr>
              <a:t>Básico + MDM, stock completo, piloto Zero Trust, SSO/SCIM, pilotos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2104" y="3977639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COSTO REFERENCIAL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2104" y="4206240"/>
            <a:ext cx="290474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MDM USD 4–12.50 / disp / mes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Tailscale USD 8 / usuario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Implementación USD 2k–8k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2104" y="5212080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RIESGO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2104" y="5440680"/>
            <a:ext cx="290474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B5EA7"/>
                </a:solidFill>
                <a:latin typeface="Calibri"/>
              </a:rPr>
              <a:t>Riesgo bajo, balance costo/seguridad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6928" y="2011680"/>
            <a:ext cx="3453384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1248" y="2240280"/>
            <a:ext cx="29047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4B2E83"/>
                </a:solidFill>
                <a:latin typeface="Calibri"/>
              </a:rPr>
              <a:t>Ideal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1248" y="2788920"/>
            <a:ext cx="2904744" cy="1905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61248" y="2880360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INCLUYE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1248" y="3108960"/>
            <a:ext cx="2904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E1356"/>
                </a:solidFill>
                <a:latin typeface="Calibri"/>
              </a:rPr>
              <a:t>Recomendado + SASE, DLP, SIEM, ITSM dedicado, IA corporativa amplia.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1248" y="3977639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COSTO REFERENCIAL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1248" y="4206240"/>
            <a:ext cx="290474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Cotización enterprise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E1356"/>
                </a:solidFill>
                <a:latin typeface="Calibri"/>
              </a:rPr>
              <a:t>según alcance y proveedores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1248" y="5212080"/>
            <a:ext cx="290474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4B2E83"/>
                </a:solidFill>
                <a:latin typeface="Calibri"/>
              </a:rPr>
              <a:t>RIESGO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1248" y="5440680"/>
            <a:ext cx="290474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B5EA7"/>
                </a:solidFill>
                <a:latin typeface="Calibri"/>
              </a:rPr>
              <a:t>Puede sobredimensionar fase inicial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1">
                <a:solidFill>
                  <a:srgbClr val="7B5EA7"/>
                </a:solidFill>
                <a:latin typeface="Calibri"/>
              </a:rPr>
              <a:t>Recomendación — iniciar por el escenario recomendado por fases, validando licenciamiento actual.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VALOR AGREGADO: IA RESPONSABLE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IA no es el enfoque central: es un acelerador prudente y controlado.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Pilotos de bajo riesgo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51125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560320"/>
            <a:ext cx="464515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Base de conocimiento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08325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017520"/>
            <a:ext cx="464515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Resumen y clasificación de tickets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65525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74720"/>
            <a:ext cx="464515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Checklists de onboarding/offboarding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022725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931920"/>
            <a:ext cx="464515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Normalización de inventario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479925"/>
            <a:ext cx="635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389120"/>
            <a:ext cx="464515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Análisis de licencias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783080"/>
            <a:ext cx="5303520" cy="3657600"/>
          </a:xfrm>
          <a:prstGeom prst="roundRect">
            <a:avLst>
              <a:gd name="adj" fmla="val 6000"/>
            </a:avLst>
          </a:prstGeom>
          <a:solidFill>
            <a:srgbClr val="FFFBE6"/>
          </a:solidFill>
          <a:ln w="9525">
            <a:solidFill>
              <a:srgbClr val="F0D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01168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7A5A00"/>
                </a:solidFill>
                <a:latin typeface="Calibri"/>
              </a:rPr>
              <a:t>Controles antes de escalar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651125"/>
            <a:ext cx="63500" cy="6350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2560320"/>
            <a:ext cx="446227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000"/>
                </a:solidFill>
                <a:latin typeface="Calibri"/>
              </a:rPr>
              <a:t>Política de uso y clasificación de datos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108325"/>
            <a:ext cx="63500" cy="6350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22008" y="3017520"/>
            <a:ext cx="446227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000"/>
                </a:solidFill>
                <a:latin typeface="Calibri"/>
              </a:rPr>
              <a:t>Solo herramientas corporativas aprobadas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3565525"/>
            <a:ext cx="63500" cy="6350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22008" y="3474720"/>
            <a:ext cx="446227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000"/>
                </a:solidFill>
                <a:latin typeface="Calibri"/>
              </a:rPr>
              <a:t>Nunca: SAP, credenciales ni datos sensibles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4022725"/>
            <a:ext cx="63500" cy="6350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2008" y="3931920"/>
            <a:ext cx="446227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000"/>
                </a:solidFill>
                <a:latin typeface="Calibri"/>
              </a:rPr>
              <a:t>Revisión humana obligatoria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4479925"/>
            <a:ext cx="63500" cy="63500"/>
          </a:xfrm>
          <a:prstGeom prst="rect">
            <a:avLst/>
          </a:prstGeom>
          <a:solidFill>
            <a:srgbClr val="7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22008" y="4389120"/>
            <a:ext cx="446227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000"/>
                </a:solidFill>
                <a:latin typeface="Calibri"/>
              </a:rPr>
              <a:t>Agentes críticos pospuestos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DDF1F8"/>
          </a:solidFill>
          <a:ln w="9525">
            <a:solidFill>
              <a:srgbClr val="DD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1E1356"/>
                </a:solidFill>
                <a:latin typeface="Calibri"/>
              </a:rPr>
              <a:t>La IA entra como acelerador controlado, no como sustituto de gobierno ni como respuesta principal al reto.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4B2E83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E1356"/>
                </a:solidFill>
                <a:latin typeface="Calibri"/>
              </a:rPr>
              <a:t>Una propuesta que se puede leer, presentar y defender.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7665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E1356"/>
                </a:solidFill>
                <a:latin typeface="Calibri"/>
              </a:rPr>
              <a:t>Nuestras 3 prioridades al entrar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 i="0">
                <a:solidFill>
                  <a:srgbClr val="C8BAE5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60604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Transición controlada RRHH → IT y cierre de riesgos críticos desde el día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 i="0">
                <a:solidFill>
                  <a:srgbClr val="C8BAE5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Inventario confiable de activos, usuarios, aplicaciones, licencias y proveedores.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 i="0">
                <a:solidFill>
                  <a:srgbClr val="C8BAE5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52628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1356"/>
                </a:solidFill>
                <a:latin typeface="Calibri"/>
              </a:rPr>
              <a:t>Operación medible: SLAs, canal único, matriz de accesos, stock y dashboard ejecutivo.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783080"/>
            <a:ext cx="4160520" cy="3840480"/>
          </a:xfrm>
          <a:prstGeom prst="roundRect">
            <a:avLst>
              <a:gd name="adj" fmla="val 6000"/>
            </a:avLst>
          </a:prstGeom>
          <a:solidFill>
            <a:srgbClr val="EDE8F6"/>
          </a:solidFill>
          <a:ln w="9525">
            <a:solidFill>
              <a:srgbClr val="D2C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05740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>
                <a:solidFill>
                  <a:srgbClr val="4B2E83"/>
                </a:solidFill>
                <a:latin typeface="Calibri"/>
              </a:rPr>
              <a:t>Propuesta de valor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79" y="2496312"/>
            <a:ext cx="1417320" cy="19050"/>
          </a:xfrm>
          <a:prstGeom prst="rect">
            <a:avLst/>
          </a:prstGeom>
          <a:solidFill>
            <a:srgbClr val="C8B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269748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Orden operativo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2461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Seguridad proporcional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79476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Continuidad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4340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Productividad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89204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1E1356"/>
                </a:solidFill>
                <a:latin typeface="Calibri"/>
              </a:rPr>
              <a:t>Crecimiento escalable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1E1356"/>
          </a:solidFill>
          <a:ln w="9525">
            <a:solidFill>
              <a:srgbClr val="1E13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No buscamos hacer a Paranice burocrática; buscamos que crezca con trazabilidad, seguridad y velocidad.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9E92B8"/>
                </a:solidFill>
                <a:latin typeface="Calibri"/>
              </a:rPr>
              <a:t>Paranice · Plan Ejecutivo IT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2" y="647395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1" i="0">
                <a:solidFill>
                  <a:srgbClr val="9E92B8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