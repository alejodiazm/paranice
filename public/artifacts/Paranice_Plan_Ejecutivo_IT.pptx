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e1a24cf46e4717" /><Relationship Type="http://schemas.openxmlformats.org/officeDocument/2006/relationships/extended-properties" Target="/docProps/app.xml" Id="R02422afa402e4c26" /><Relationship Type="http://schemas.openxmlformats.org/officeDocument/2006/relationships/officeDocument" Target="/ppt/presentation.xml" Id="Rd7b4c1116a9340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80cc2204cb4c30"/>
  </p:sldMasterIdLst>
  <p:notesMasterIdLst>
    <p:notesMasterId xmlns:r="http://schemas.openxmlformats.org/officeDocument/2006/relationships" r:id="R70cd121540ae4753"/>
  </p:notesMasterIdLst>
  <p:sldIdLst>
    <p:sldId xmlns:r="http://schemas.openxmlformats.org/officeDocument/2006/relationships" id="256" r:id="Rcb046fed931143d2"/>
    <p:sldId xmlns:r="http://schemas.openxmlformats.org/officeDocument/2006/relationships" id="257" r:id="R8d582e7a7d074c63"/>
    <p:sldId xmlns:r="http://schemas.openxmlformats.org/officeDocument/2006/relationships" id="258" r:id="R74386f5f165f417f"/>
    <p:sldId xmlns:r="http://schemas.openxmlformats.org/officeDocument/2006/relationships" id="259" r:id="R6f73231630834cd5"/>
    <p:sldId xmlns:r="http://schemas.openxmlformats.org/officeDocument/2006/relationships" id="260" r:id="R66e1d43b65184ae1"/>
    <p:sldId xmlns:r="http://schemas.openxmlformats.org/officeDocument/2006/relationships" id="261" r:id="Rdfb11c0e5aa343b1"/>
    <p:sldId xmlns:r="http://schemas.openxmlformats.org/officeDocument/2006/relationships" id="262" r:id="R39698444f3ee49a6"/>
    <p:sldId xmlns:r="http://schemas.openxmlformats.org/officeDocument/2006/relationships" id="263" r:id="R39ff64f67d894539"/>
    <p:sldId xmlns:r="http://schemas.openxmlformats.org/officeDocument/2006/relationships" id="264" r:id="Rc52e13cc699d47c7"/>
    <p:sldId xmlns:r="http://schemas.openxmlformats.org/officeDocument/2006/relationships" id="265" r:id="R774b4610ec4446c2"/>
    <p:sldId xmlns:r="http://schemas.openxmlformats.org/officeDocument/2006/relationships" id="266" r:id="Rfdec5c32f096434e"/>
    <p:sldId xmlns:r="http://schemas.openxmlformats.org/officeDocument/2006/relationships" id="267" r:id="R46234dedf03345ac"/>
    <p:sldId xmlns:r="http://schemas.openxmlformats.org/officeDocument/2006/relationships" id="268" r:id="R758ce0b3e41b47b2"/>
    <p:sldId xmlns:r="http://schemas.openxmlformats.org/officeDocument/2006/relationships" id="269" r:id="R8d0381e477e944df"/>
    <p:sldId xmlns:r="http://schemas.openxmlformats.org/officeDocument/2006/relationships" id="270" r:id="Rfefe715c23e44c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0cc2204cb4c30" /><Relationship Type="http://schemas.openxmlformats.org/officeDocument/2006/relationships/theme" Target="/ppt/theme/theme1.xml" Id="R6588e09a18054a79" /><Relationship Type="http://schemas.openxmlformats.org/officeDocument/2006/relationships/notesMaster" Target="/ppt/notesMasters/notesMaster1.xml" Id="R70cd121540ae4753" /><Relationship Type="http://schemas.openxmlformats.org/officeDocument/2006/relationships/presProps" Target="/ppt/presProps.xml" Id="R902391fdb08048fe" /><Relationship Type="http://schemas.openxmlformats.org/officeDocument/2006/relationships/viewProps" Target="/ppt/viewProps.xml" Id="R5951f1ecdac642c5" /><Relationship Type="http://schemas.openxmlformats.org/officeDocument/2006/relationships/tableStyles" Target="/ppt/tableStyles.xml" Id="R2d497769ac1c446a" /><Relationship Type="http://schemas.openxmlformats.org/officeDocument/2006/relationships/slide" Target="/ppt/slides/slide1.xml" Id="Rcb046fed931143d2" /><Relationship Type="http://schemas.openxmlformats.org/officeDocument/2006/relationships/slide" Target="/ppt/slides/slide2.xml" Id="R8d582e7a7d074c63" /><Relationship Type="http://schemas.openxmlformats.org/officeDocument/2006/relationships/slide" Target="/ppt/slides/slide3.xml" Id="R74386f5f165f417f" /><Relationship Type="http://schemas.openxmlformats.org/officeDocument/2006/relationships/slide" Target="/ppt/slides/slide4.xml" Id="R6f73231630834cd5" /><Relationship Type="http://schemas.openxmlformats.org/officeDocument/2006/relationships/slide" Target="/ppt/slides/slide5.xml" Id="R66e1d43b65184ae1" /><Relationship Type="http://schemas.openxmlformats.org/officeDocument/2006/relationships/slide" Target="/ppt/slides/slide6.xml" Id="Rdfb11c0e5aa343b1" /><Relationship Type="http://schemas.openxmlformats.org/officeDocument/2006/relationships/slide" Target="/ppt/slides/slide7.xml" Id="R39698444f3ee49a6" /><Relationship Type="http://schemas.openxmlformats.org/officeDocument/2006/relationships/slide" Target="/ppt/slides/slide8.xml" Id="R39ff64f67d894539" /><Relationship Type="http://schemas.openxmlformats.org/officeDocument/2006/relationships/slide" Target="/ppt/slides/slide9.xml" Id="Rc52e13cc699d47c7" /><Relationship Type="http://schemas.openxmlformats.org/officeDocument/2006/relationships/slide" Target="/ppt/slides/slide10.xml" Id="R774b4610ec4446c2" /><Relationship Type="http://schemas.openxmlformats.org/officeDocument/2006/relationships/slide" Target="/ppt/slides/slide11.xml" Id="Rfdec5c32f096434e" /><Relationship Type="http://schemas.openxmlformats.org/officeDocument/2006/relationships/slide" Target="/ppt/slides/slide12.xml" Id="R46234dedf03345ac" /><Relationship Type="http://schemas.openxmlformats.org/officeDocument/2006/relationships/slide" Target="/ppt/slides/slide13.xml" Id="R758ce0b3e41b47b2" /><Relationship Type="http://schemas.openxmlformats.org/officeDocument/2006/relationships/slide" Target="/ppt/slides/slide14.xml" Id="R8d0381e477e944df" /><Relationship Type="http://schemas.openxmlformats.org/officeDocument/2006/relationships/slide" Target="/ppt/slides/slide15.xml" Id="Rfefe715c23e44c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b744f5e8ccc44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5e4e35b57b4437" /><Relationship Type="http://schemas.openxmlformats.org/officeDocument/2006/relationships/notesMaster" Target="/ppt/notesMasters/notesMaster1.xml" Id="Re923e3f2b37a4c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e374e0238c4353" /><Relationship Type="http://schemas.openxmlformats.org/officeDocument/2006/relationships/notesMaster" Target="/ppt/notesMasters/notesMaster1.xml" Id="Rf66e1277bf7b4d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d26a34727a49d5" /><Relationship Type="http://schemas.openxmlformats.org/officeDocument/2006/relationships/notesMaster" Target="/ppt/notesMasters/notesMaster1.xml" Id="R4e5f0d868dab4c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459ba1a83a42a5" /><Relationship Type="http://schemas.openxmlformats.org/officeDocument/2006/relationships/notesMaster" Target="/ppt/notesMasters/notesMaster1.xml" Id="Rc637ff12706643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ee0cf066d24d1a" /><Relationship Type="http://schemas.openxmlformats.org/officeDocument/2006/relationships/notesMaster" Target="/ppt/notesMasters/notesMaster1.xml" Id="Rc5254441711a4b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2994fbeaa043b0" /><Relationship Type="http://schemas.openxmlformats.org/officeDocument/2006/relationships/notesMaster" Target="/ppt/notesMasters/notesMaster1.xml" Id="R17b8196266db4b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faf02c86404d5c" /><Relationship Type="http://schemas.openxmlformats.org/officeDocument/2006/relationships/notesMaster" Target="/ppt/notesMasters/notesMaster1.xml" Id="R2c5f0e2752b546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6f3d788cd64e4d" /><Relationship Type="http://schemas.openxmlformats.org/officeDocument/2006/relationships/notesMaster" Target="/ppt/notesMasters/notesMaster1.xml" Id="R62821cebcebc49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2abdddb1e64c70" /><Relationship Type="http://schemas.openxmlformats.org/officeDocument/2006/relationships/notesMaster" Target="/ppt/notesMasters/notesMaster1.xml" Id="R99c63f0491c742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31eb63111c4329" /><Relationship Type="http://schemas.openxmlformats.org/officeDocument/2006/relationships/notesMaster" Target="/ppt/notesMasters/notesMaster1.xml" Id="R7546da25637846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3689adcbc34b59" /><Relationship Type="http://schemas.openxmlformats.org/officeDocument/2006/relationships/notesMaster" Target="/ppt/notesMasters/notesMaster1.xml" Id="R72850b403f2344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991c0e1db4448f" /><Relationship Type="http://schemas.openxmlformats.org/officeDocument/2006/relationships/notesMaster" Target="/ppt/notesMasters/notesMaster1.xml" Id="R158874e33d314e2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1ab0f8ad074468" /><Relationship Type="http://schemas.openxmlformats.org/officeDocument/2006/relationships/notesMaster" Target="/ppt/notesMasters/notesMaster1.xml" Id="R2b7c540856d141d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fd70a3a0934186" /><Relationship Type="http://schemas.openxmlformats.org/officeDocument/2006/relationships/notesMaster" Target="/ppt/notesMasters/notesMaster1.xml" Id="Rfee7d0a49bcc44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77486b7ed9b4efa" /><Relationship Type="http://schemas.openxmlformats.org/officeDocument/2006/relationships/notesMaster" Target="/ppt/notesMasters/notesMaster1.xml" Id="R46d3ae9fb2024c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7ca14354f34b6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ea78dd38d644044" /><Relationship Type="http://schemas.openxmlformats.org/officeDocument/2006/relationships/slideLayout" Target="/ppt/slideLayouts/slideLayout2.xml" Id="R2d5907e691f04f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5907e691f04f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cc1e8e8ec64ef4" /><Relationship Type="http://schemas.openxmlformats.org/officeDocument/2006/relationships/notesSlide" Target="/ppt/notesSlides/notesSlide1.xml" Id="Rd1d6feb98d2c4a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de9633bf2a4e5e" /><Relationship Type="http://schemas.openxmlformats.org/officeDocument/2006/relationships/notesSlide" Target="/ppt/notesSlides/notesSlide2.xml" Id="Rd720956dc8f64c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9ddb084f1447d1" /><Relationship Type="http://schemas.openxmlformats.org/officeDocument/2006/relationships/notesSlide" Target="/ppt/notesSlides/notesSlide3.xml" Id="Rfa45555142a141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579c2876c74afc" /><Relationship Type="http://schemas.openxmlformats.org/officeDocument/2006/relationships/notesSlide" Target="/ppt/notesSlides/notesSlide4.xml" Id="Rb183f688f043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36acd841ce4068" /><Relationship Type="http://schemas.openxmlformats.org/officeDocument/2006/relationships/notesSlide" Target="/ppt/notesSlides/notesSlide5.xml" Id="Rf63ff8c946ce48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f640490d034e3d" /><Relationship Type="http://schemas.openxmlformats.org/officeDocument/2006/relationships/notesSlide" Target="/ppt/notesSlides/notesSlide6.xml" Id="Rbe7c4e29331f4ad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9940337a364448" /><Relationship Type="http://schemas.openxmlformats.org/officeDocument/2006/relationships/notesSlide" Target="/ppt/notesSlides/notesSlide7.xml" Id="Rb8b6811165974b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a23c7622d74edd" /><Relationship Type="http://schemas.openxmlformats.org/officeDocument/2006/relationships/notesSlide" Target="/ppt/notesSlides/notesSlide8.xml" Id="R8b025b99796b42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b25a9ada1541d1" /><Relationship Type="http://schemas.openxmlformats.org/officeDocument/2006/relationships/notesSlide" Target="/ppt/notesSlides/notesSlide9.xml" Id="R46b0f0d831db4f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e7a43254d4475e" /><Relationship Type="http://schemas.openxmlformats.org/officeDocument/2006/relationships/notesSlide" Target="/ppt/notesSlides/notesSlide10.xml" Id="Rc4e0b2f56d7144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6b305db39846a6" /><Relationship Type="http://schemas.openxmlformats.org/officeDocument/2006/relationships/notesSlide" Target="/ppt/notesSlides/notesSlide11.xml" Id="R8cbd87f5cabc40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8dd7ada0d44b51" /><Relationship Type="http://schemas.openxmlformats.org/officeDocument/2006/relationships/notesSlide" Target="/ppt/notesSlides/notesSlide12.xml" Id="Rd3050a350e2049d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f1d7271673485f" /><Relationship Type="http://schemas.openxmlformats.org/officeDocument/2006/relationships/notesSlide" Target="/ppt/notesSlides/notesSlide13.xml" Id="R66994e68bdfb4e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d65faf54cf4016" /><Relationship Type="http://schemas.openxmlformats.org/officeDocument/2006/relationships/notesSlide" Target="/ppt/notesSlides/notesSlide14.xml" Id="Rcc46b08ab1e84ce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21a84587084c8d" /><Relationship Type="http://schemas.openxmlformats.org/officeDocument/2006/relationships/notesSlide" Target="/ppt/notesSlides/notesSlide15.xml" Id="R03c20559d98e49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606983-C4BF-4385-9A61-459DCDD0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FCB5C-C266-44C0-888E-8758221E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C1E62-A39D-4A3D-B8DA-9391CB21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7E6E8-5039-474A-AFD8-5A9AE1B5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FEAF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7834-6B49-4D57-806B-A2CA6BB8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0550"/>
            <a:ext cx="8191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F8F902-011C-4B55-93D8-69FE0B94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RETO TÉCNICO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A8F7D-3685-4D11-A8BD-DDFCB2C8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239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Crear una función IT medible, segura y escalable para Paranice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4F267-9B04-4F58-962C-920B191A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7239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Bajo supervisión de RRHH | Enfoque PMP, agilidad, seguridad, continuidad e IA responsable como valor agregado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97099-B3C4-4140-8F3B-58B6FBEF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16002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EC880-7BCD-428F-86A6-F3B2F600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1371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79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4F1EE-3745-4304-8236-E5D31432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371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dispositivos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93BEF-BD7D-45F7-B17C-99FF7F59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137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base reto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2086B0-7BDB-4B16-89AD-889288F5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4305300"/>
            <a:ext cx="16002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579D4-EDEE-493D-A59E-2FA88265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19600"/>
            <a:ext cx="1371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63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BAE6F-EA08-47DC-A53C-06037902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91075"/>
            <a:ext cx="1371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Apple aprox.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70FD39-6018-4EA9-B223-CE927BB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029200"/>
            <a:ext cx="137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base reto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0E9320-CBDE-4B3D-A3A3-17EE1423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305300"/>
            <a:ext cx="16002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E9CE6F-4C52-40A0-98B3-CABF58F9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19600"/>
            <a:ext cx="1371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16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678FCC-187B-421F-9448-F37731D3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91075"/>
            <a:ext cx="1371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Windows aprox.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8E57BB-696C-4120-86D5-9E8283B0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29200"/>
            <a:ext cx="137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base reto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F94FF-DFD1-4E5D-AE19-8B0684B0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305300"/>
            <a:ext cx="16002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5AE501-0B7E-4E87-82D1-E1525852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19600"/>
            <a:ext cx="1371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1D370B-A8B1-486E-8F0F-9C7C8EC0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91075"/>
            <a:ext cx="1371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stock sugerido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DA5CDA-D9F0-4B3D-B3FC-9D88DB2A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029200"/>
            <a:ext cx="1371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10% parque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D75954-6064-4A04-B32B-A4ECFB6C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85800"/>
            <a:ext cx="2571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Paranice / Why Not</a:t>
            </a:r>
          </a:p>
        </p:txBody>
      </p:sp>
    </p:spTree>
    <p:extLst>
      <p:ext uri="{BB962C8B-B14F-4D97-AF65-F5344CB8AC3E}">
        <p14:creationId xmlns:p14="http://schemas.microsoft.com/office/powerpoint/2010/main" val="6223841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06E68B-78F8-4078-B6C6-FFD7B684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E23F6-C1AE-4118-808B-6B0EEAA7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1B46E-D87D-4150-AC64-8EB66369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ADDF7-3088-49AE-97B6-39BD4C4C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LECTURA EJECUTIVA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0C0C36-8F5E-496E-8E77-547E9D83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El reto no es solo técnico: es crear gobierno IT bajo supervisión de RRHH.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75D7B-1C9D-4FDE-A685-8C65A627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BEBAC-E77A-411B-BD18-37FB1BF3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2857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Situación actual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C74F3-B578-4F16-B1ED-3BCFCA82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266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B8C48-7185-4068-8B15-E6F38E2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2324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HOY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5283D-8E3D-4260-90FC-109A1C49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324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RRHH custodia 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0C3492-610A-427E-BA7D-45B678E2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2324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Resuelve accesos, equipos y eventos laborales con conocimiento parcial.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E5B46-4183-42D4-8F07-CA8188C1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76450"/>
            <a:ext cx="2952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EBCCD-1462-44AF-86F6-6B888345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28850"/>
            <a:ext cx="2609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NECESIDAD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8A0DAA-BFED-409A-90E0-D4A5072D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76500"/>
            <a:ext cx="2609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Ownership técnico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548A7-C402-48BF-B857-BE4D801B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95600"/>
            <a:ext cx="26098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debe asumir activos, accesos, soporte, licencias, seguridad y proveedores.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5D3C4-2BE2-493E-BDE7-8FFFB8F4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76450"/>
            <a:ext cx="266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2274D3-9CB4-4DD6-BC6E-6166DA10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28850"/>
            <a:ext cx="2324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829F9-A9CE-4DEA-A8BA-635D3F35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2324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Control sin fricción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C1D681-AA93-420C-94B4-19882246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23241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RRHH mantiene supervisión del rol y eventos laborales; IT ejecuta técnicamente.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100B2A-188D-4CDC-BB05-5897EEBD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622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8B502F-CDA6-4F5D-A859-786C6CC6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0512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B3160-A8A8-4D09-9BBD-BB5CF375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62275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F30C55-658A-480B-A771-6A69E1D6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0512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2914ED-39AD-4757-92A8-CA1D3C47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72000"/>
            <a:ext cx="933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DF1F8"/>
          </a:solidFill>
          <a:ln xmlns:a="http://schemas.openxmlformats.org/drawingml/2006/main">
            <a:solidFill>
              <a:srgbClr val="DDF1F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C49D37-4DE4-415C-AA49-61C4ADB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625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Principio de diseño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33B309-8939-44FE-8F50-0BDC82C6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572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se reemplaza a RRHH: se le quita la carga técnica. RRHH supervisa y conserva ownership de ingresos/retiros; IT profesionaliza ejecución, trazabilidad y seguridad.</a:t>
            </a:r>
          </a:p>
        </p:txBody>
      </p:sp>
    </p:spTree>
    <p:extLst>
      <p:ext uri="{BB962C8B-B14F-4D97-AF65-F5344CB8AC3E}">
        <p14:creationId xmlns:p14="http://schemas.microsoft.com/office/powerpoint/2010/main" val="2399148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6F34A7-CA21-4B69-B2AF-BDC51842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718E6-62C3-4DA7-A033-25CFE123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EE51A-5B43-4168-A4E2-0C0E13C4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7B237-5E5D-49D0-B60A-AA426971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BASE CUANTIFICADA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8F231-15EB-49C3-A949-EC423DA3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primera decisión gerencial es convertir supuestos dispersos en indicadores controlables.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6BD72-646D-4DCA-BBE0-3DA7757D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D1541-0657-4E6E-B012-FF2DA58C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9070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76325-EE17-4CDE-81A7-73E54A43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1390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79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B37E8-0D49-4C73-9374-16FEC1EF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76475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Parque actual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136EF-47CE-4583-89C8-72FFE188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146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dispositivos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CBA3D-0C0D-4DD5-9529-F6CD613B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9070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3FD10-BE66-4432-86B8-CB30B07D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905000"/>
            <a:ext cx="1390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CB8F5E-7FD0-471B-93E8-5339AD8D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276475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Apple aprox.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E44AD-1D0E-4088-BA8B-6FE74E5B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5146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80% del parque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1DC389-06E9-4AF7-AAED-F2537E22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79070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16E91D-9E56-44B3-8131-2AA440DB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905000"/>
            <a:ext cx="1390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AC3F1-59F2-4FD0-87E1-EB47967A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276475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Windows aprox.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CE70B7-9E9A-4A50-9162-62DB9E96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5146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20% del parque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7BCC05-F130-4635-9A3C-5F61C96ED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9070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4E7F06-E4BF-4951-A1F4-F18FB55C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1905000"/>
            <a:ext cx="1390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92286A-3519-43DA-A2AD-D63F6923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276475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Stock sugerido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BA959E-1064-4291-9185-C27522B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146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10% inicial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06AECD-BAE7-4B06-8A2C-B1568990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90700"/>
            <a:ext cx="1619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ED7E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2AE397-E648-47C7-B59C-CD79A364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905000"/>
            <a:ext cx="13906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4B2E83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0A533-54A0-4914-B357-A070070C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276475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Punto reposición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DEDBF1-15A3-4BF9-81F9-56883E48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5146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umbral mínimo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81E1B5-4D34-47F7-AB07-8880CAAF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287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A5A83B-63BD-46A6-B72A-5DD31A96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Metas de control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F7F4C3-D985-4876-8CD1-31C472EA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481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35C756-BFB1-417C-9EE8-9E0083C2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85915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Día 30: 100% de activos, usuarios, aplicaciones y licencias críticas inventariadas.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70DC68-1257-4F3F-9BAE-C1DE1B4C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4D2CF2-3346-4075-842E-2682B3D2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57675"/>
            <a:ext cx="85915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Día 60: 85% de equipos bajo MDM o con plan de enrolamiento.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17DB31-8871-4648-BDFF-3F44858F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38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66BE6-DFB6-459A-871B-BCA3504A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52950"/>
            <a:ext cx="85915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Día 90: 95% de endpoints cifrados y con políticas base.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3BA3D8-AA13-4F69-8C3A-62A40013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3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F2BBB7-1EA1-43DB-81D3-AE6EF0E7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48225"/>
            <a:ext cx="85915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Offboarding sensible: revocación de accesos en menos de 1 hora.</a:t>
            </a:r>
          </a:p>
        </p:txBody>
      </p:sp>
    </p:spTree>
    <p:extLst>
      <p:ext uri="{BB962C8B-B14F-4D97-AF65-F5344CB8AC3E}">
        <p14:creationId xmlns:p14="http://schemas.microsoft.com/office/powerpoint/2010/main" val="762845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EEBAE3-3122-4150-BBEA-3FA699FF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A0EF5C-4B00-427B-962C-C6754813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FEA05-0E81-4AF0-8018-BE8CD503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B46EC-CA2E-4DDA-8604-EBAB81A8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MODELO DE GOBIERNO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9F7FEA-D3CE-469E-B471-A90DFB6F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PMP ordena la dirección; agilidad permite cerrar riesgos desde la primera semana.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DE032A-F8F9-4D0E-934D-315DEB16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C3A5C-B9E3-4BD0-B668-494DA6C3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095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FF62E-09A6-41A0-8AC5-E63F97C5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62150"/>
            <a:ext cx="1752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PMP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702AFA-9200-4415-AB1D-76EB90A2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1752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PMP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3FF466-BDCC-4DC5-96EF-68D4924C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17526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Alcance, riesgos, stakeholders, presupuesto y decisiones ejecutivas.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73399-6B4A-4A2B-8E1C-11CFBD15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809750"/>
            <a:ext cx="2095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4F630-D4EF-4F1D-B25C-410B9CD3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62150"/>
            <a:ext cx="1752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KANBAN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15D553-AD91-455B-992F-C432081A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209800"/>
            <a:ext cx="1752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Kanban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18EC7-E749-431C-9820-81A36857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28900"/>
            <a:ext cx="17526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Canal único para solicitudes, soporte, bloqueos y seguimiento diario.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84105-8D53-4FE9-9260-510EBD56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09750"/>
            <a:ext cx="2095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2D06A5-A1B1-47DA-ACE2-EC286BBC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62150"/>
            <a:ext cx="1752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ITIL LITE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ED05AB-DEAE-4FA8-970E-7C51E152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1752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ITIL lite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31A1E6-8B55-4B12-92D6-27EF258F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28900"/>
            <a:ext cx="17526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Incidentes, requerimientos, cambios y base de conocimiento.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E70570-BD3F-410D-AF4A-2126AB77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809750"/>
            <a:ext cx="20955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27D022-9F02-44FB-B903-F26B7BB7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962150"/>
            <a:ext cx="1752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SEGURIDAD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D2D01-C4CD-4EEC-98B4-5241FEDA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209800"/>
            <a:ext cx="1752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Seguridad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D9A94C-030B-4C82-81C6-3F46F073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628900"/>
            <a:ext cx="175260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NIST CSF, Zero Trust, MDM, IAM, MFA y mínimo privilegio.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7AD8F0-C52B-40FA-BD19-A7BA0255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286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Supervisión RRHH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2D875-0BE4-430C-BF05-932B8225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9906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E4F4E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848881-3F4F-45B3-8B72-7C6A161F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14900"/>
            <a:ext cx="933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El cargo puede reportar o estar supervisado por RRHH, pero IT debe tener autoridad técnica sobre accesos, equipos, licencias, seguridad y proveedores. Esa separación evita vacíos de responsabilidad.</a:t>
            </a:r>
          </a:p>
        </p:txBody>
      </p:sp>
    </p:spTree>
    <p:extLst>
      <p:ext uri="{BB962C8B-B14F-4D97-AF65-F5344CB8AC3E}">
        <p14:creationId xmlns:p14="http://schemas.microsoft.com/office/powerpoint/2010/main" val="173468361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92A7D9-5613-4ED1-8D13-8551E47F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21C01-BFC0-4DBC-88C1-659040E8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954EE-F054-4E67-B5C6-C130FEC7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11B88-88AA-4B2E-96AD-0B5EA9F3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TRANSICIÓN OPERATIVA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FDD45-1D6E-4318-942E-DD5D91A1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transición RRHH -&gt; IT debe ser respetuosa, supervisada y medible.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462406-07D2-4D07-98D4-AE49812A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0362A-E6D4-4AE7-8F3C-9436ECC4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907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16A03-F107-4DF6-B4AF-8D274AC9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038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DÍAS 1-5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C39A0-74AA-4ACA-8A6B-68B9B2CC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038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Entender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CFE69-4B19-4035-A031-1006F5DE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20383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Mapear qué administra RRHH: accesos, proveedores, licencias, inventarios y dolores.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490A97-1215-456E-916E-30DB715A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14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1670BB-01D5-4375-A58B-98D9A7C2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5750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D42D3-F124-405E-865E-5A3851D0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907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DCBE8-AFBA-4DE6-980A-5C060A45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43100"/>
            <a:ext cx="2038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DÍAS 1-10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A46CF-7521-4AC4-913F-E8B1EB4A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2038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Contener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EEA3D-3951-4B4A-A5F7-E2013AA6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09850"/>
            <a:ext cx="20383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MFA admins, cuentas nominales, usuarios activos vs colaboradores y checklist temporal.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E21CE9-ED8D-48C8-A2DF-FD4C0BF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14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868F90-B477-4101-A004-DC5C5030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5750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7A8421-2E57-478A-9974-D3984C56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86A2-DD15-402D-9D14-BF26987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2038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DÍAS 10-30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115F7B-4579-44DB-96F9-52EAFC84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2038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Transferir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ED054-A0B3-4068-B1D5-71DEBCC3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20383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asume administración técnica; RRHH queda como solicitante/aprobador.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33F504-EA49-4A3A-9D75-24E966F3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14650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D4404-6FC9-4FF2-ADF6-CA86A186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68254B-6571-4EE5-8AC8-F3C8334F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7907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248A2C-A384-43CD-8E50-7933D2A8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43100"/>
            <a:ext cx="2038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DÍAS 31-60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BCE4B7-654E-43EA-87EF-597372C5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90750"/>
            <a:ext cx="2038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Estabilizar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13689C-6866-4E0D-B21B-CD2C59EF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09850"/>
            <a:ext cx="203835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Automatizar, medir SLAs, ejecutar simulacro y ajustar gobierno.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7AF1F3-E1B8-4B52-9E60-D674D413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27622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DF1F8"/>
          </a:solidFill>
          <a:ln xmlns:a="http://schemas.openxmlformats.org/drawingml/2006/main">
            <a:solidFill>
              <a:srgbClr val="DDF1F8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FAE24F-8F88-43C6-8136-C784988C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2571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RRHH supervisa eventos laborales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000A1B-80FD-4895-B838-D10990A1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762500"/>
            <a:ext cx="26670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FEAF8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4BBAF8-8318-4C1E-BB72-D8BEA4F0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19650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IT ejecuta controles técnicos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5B3961-343C-47C4-A123-ABFD004E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762500"/>
            <a:ext cx="31432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>
            <a:solidFill>
              <a:srgbClr val="FFF2CC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C54DAA-AD5B-4915-9E5F-92BC5C4F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81965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Finanzas valida activos y licencias</a:t>
            </a:r>
          </a:p>
        </p:txBody>
      </p:sp>
    </p:spTree>
    <p:extLst>
      <p:ext uri="{BB962C8B-B14F-4D97-AF65-F5344CB8AC3E}">
        <p14:creationId xmlns:p14="http://schemas.microsoft.com/office/powerpoint/2010/main" val="10771518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F30F6-144D-4BAC-8D3F-A22792EE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68C45-87BF-4C79-B21D-6663C991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99027C-40BA-4659-A99D-89DC1BAF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54F46B-D198-4A1F-B275-ECFF523B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ACTIVOS Y STOCK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B7E26-488C-4A19-A87E-4C3FD7BF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El stock de seguridad no es inventario muerto: es continuidad operativa.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7D703-0E9E-453F-9F4E-BF7A2DBF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8EB3F0-FE5F-4D29-8171-4AFA2CAD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0287000" cy="809625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A23464-219A-44D1-8B70-40594A25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Fórmula inicial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6CD1E-F802-4F47-9EF5-0FCA2BA3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943100"/>
            <a:ext cx="7429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08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Stock seguridad = ingresos durante lead time + fallas/reparaciones + buffer operativo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5F8B4-71E7-485C-95B3-14C1A706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286000"/>
            <a:ext cx="714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Punto de partida: 10% de 79 = 8 equipos. Mezcla recomendada: 6 Apple + 2 Windows.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EE9D9-A620-4BB1-AFC8-2B37FDFF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A0D43-1052-4C44-B403-974D643D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Compra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719C61-FF67-465C-896A-63894A45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097B6-24AA-4230-B653-55A6FA89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98BDA-0D4C-4DCD-8E14-999E1239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EF316-F992-4C85-8FDC-F480625B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9F9F8A-8C66-40FA-9C26-ACE96D31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7FDDFC-0597-4876-866F-49209DAF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3BD7C5-CAE1-4DED-A256-85409B54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15FD9D-BDFE-49EB-9F6F-88194115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MDM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C98610-894D-4090-8D31-B54B797B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017BB5-1C76-47C5-802E-5490CB76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58960A-4B67-402F-88A7-D665D8E4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A2129F-206D-4E0D-BB0D-6340921C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Asignación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68232C-B9C7-4D54-B42C-A7C3F443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4C0E15-19A8-4CD3-90A6-DD93A625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210F32-31B1-4943-8DCE-A77C8999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F1EE74-3A19-4E70-82A2-017B72A8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Soporte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4E4D91-6136-4CFA-809C-98C3E816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C95BD9-B320-4C26-953A-C8A7BF5D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B87837-95C7-4988-A1F2-32C3D270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CEDB5A-0FF9-4E09-A2AF-200D683B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Devolución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3EACC3-3C7F-440B-B871-E074CAEC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832644-76FB-4EF1-BAC4-B86C6120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04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62C45C-2A4A-4E7B-83CF-A5C4186D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352800"/>
            <a:ext cx="1143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9B5661-01FC-4D41-9E28-E9765F26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81400"/>
            <a:ext cx="990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Baja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C6EFEB-AC65-4080-AFBD-DD20D1AA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48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5862429-E4AC-42DB-B31F-819A4478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91630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Meta día 30: inventario 100% con responsable, serial, estado, SO, garantía y criticidad.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789EAA-40BB-4758-8D80-9F60ED10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81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1D1B8B-29A8-4456-A161-F68FA012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95875"/>
            <a:ext cx="91630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Meta día 60: 8 equipos de stock disponibles o compra en curso.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9C3B75-AD12-4C7C-96CF-D8C3E1C0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149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A4C5FF-E029-45D3-8863-D7363FE7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91630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Meta día 90: ciclo de vida activo con punto de reposición menor a 4 equipos.</a:t>
            </a:r>
          </a:p>
        </p:txBody>
      </p:sp>
    </p:spTree>
    <p:extLst>
      <p:ext uri="{BB962C8B-B14F-4D97-AF65-F5344CB8AC3E}">
        <p14:creationId xmlns:p14="http://schemas.microsoft.com/office/powerpoint/2010/main" val="190716612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B17748-2052-456C-9270-2312F60E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F0907-2648-4A07-92C0-1AFDF484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67D27-E286-4FAF-A789-F7E109D1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384F6-D4EF-4D11-BA01-EAF6FF84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ACCESOS SEGUROS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C3834-5621-435F-94F1-DB8CF961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seguridad debe seguir identidad, rol y dispositivo, no memoria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4C57C-749C-47AF-BCDA-84BAE227F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2533F-56B2-48DC-9F4D-87CEE229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05025"/>
            <a:ext cx="147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F7996-BD20-4F03-8A53-DBBD0D9F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05025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B2469-E94E-41E3-8701-D694E16D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90925"/>
            <a:ext cx="857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B2023A-F2B5-4598-AF56-9555AC28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457450"/>
            <a:ext cx="285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6F134-5EF9-42E4-B5E1-AE4896F7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457450"/>
            <a:ext cx="619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6010A-D23C-4209-9022-B9FC5768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574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04E99F-20CB-421A-85BA-28AF17CF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57450"/>
            <a:ext cx="285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6343D0-DD23-4330-854E-D59877A6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0925"/>
            <a:ext cx="95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8F769-9A04-4868-95AF-726403A6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95625"/>
            <a:ext cx="285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176B3-10C5-424E-990F-759CFE1C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2667000" cy="119062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8CF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8197D-0C4A-4C57-B057-79EEA2EC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219325"/>
            <a:ext cx="21526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97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Identidad central</a:t>
            </a:r>
          </a:p>
          <a:p xmlns:a="http://schemas.openxmlformats.org/drawingml/2006/main">
            <a:pPr algn="ctr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Google Workspace / IdP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2C20B9-AFDD-445C-A503-24F41FBC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771650"/>
            <a:ext cx="1762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0F4A8-4890-4B12-A355-9DF75F78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009775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Slack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6C599D-CC09-4B5C-B1C8-1D41ED20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352800"/>
            <a:ext cx="1762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8F6B0-559B-4AA8-8FAF-FF074E39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590925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Adobe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23657-3F4B-4B8A-AE77-0E504108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81425"/>
            <a:ext cx="1762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30D35-95BA-4F87-BDE4-EACB7CE8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19550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6B65E3-6460-4B57-AE8E-5226D375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71650"/>
            <a:ext cx="1762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4CD7F9-4CA4-4011-AFB8-44A3B05C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9775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ClickUp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5FEFF1-62EA-4F4A-AF87-3A6866C0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17621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1299B2-D472-4869-959E-4A7487A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90925"/>
            <a:ext cx="1524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Drive/Gmail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4A4644-B9B9-40E1-B424-23C323FA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Controles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749C7A-5854-4085-BD40-B46102F1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CACA7-9883-41E2-8BFB-238A3256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9734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MFA obligatorio para admins, Finanzas, RRHH, SAP, Google y Slack.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1A2195-BE72-48F0-B55A-746C157B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3E519E-35B0-4278-BAA8-7203B23E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72125"/>
            <a:ext cx="9734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Matriz por rol: mínimo privilegio y aprobaciones por líder de área.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B5F0E4-A5DC-4995-A480-AF3D3D45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2A9197-59A3-4DC1-8DA0-F0FCDC6E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9734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SSO/SCIM donde el licenciamiento lo permita; recertificación trimestral.</a:t>
            </a:r>
          </a:p>
        </p:txBody>
      </p:sp>
    </p:spTree>
    <p:extLst>
      <p:ext uri="{BB962C8B-B14F-4D97-AF65-F5344CB8AC3E}">
        <p14:creationId xmlns:p14="http://schemas.microsoft.com/office/powerpoint/2010/main" val="28952966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572257-E9BE-4A22-A9B5-FB2B0848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10208-9211-403E-8B70-9971B21D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C6AA8-D438-4028-955C-948BCD96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1777F-B9C1-455A-9C68-35B74AAB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ZERO TRUST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933D9-235D-4279-9BCC-F8490578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VPN tradicional puede quedar como transición; el objetivo debe ser acceso por aplicación.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3AAE5-A769-4065-A7CF-DAD9EAB3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D3AD1-3EE2-4713-8C9D-E615F8F8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4095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F4BBF-B880-4456-811E-2EA9F8C4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52650"/>
            <a:ext cx="3752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VPN TRADICIONAL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5BB66-C08E-4AF7-8F29-41713636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3752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Conecta a la 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2BF764-4510-46C7-A27D-8F6609D7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3752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Útil para legados, pero puede abrir más superficie de acceso si no está segmentada.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B1B40-5D70-4B27-9511-4795EE35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95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8B5BD-DDD9-4FA8-8D54-DD64508E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152650"/>
            <a:ext cx="37528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ZERO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C251B1-5AF5-4EE2-95AB-E0F956DE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00300"/>
            <a:ext cx="3752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Conecta al recurso exacto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17A56-F896-46CE-8755-075C1A0A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375285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 usuario, dispositivo, contexto y aplicación. Registra actividad y revoca rápido.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1F9F38-2560-4B2D-8AE2-81947CD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4800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FE454F-BFF6-4D38-B53F-BB606196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3B23A1-0BE0-4513-9398-C083CDCB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8858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DF1F8"/>
          </a:solidFill>
          <a:ln xmlns:a="http://schemas.openxmlformats.org/drawingml/2006/main">
            <a:solidFill>
              <a:srgbClr val="DDF1F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C298E-3177-4838-A09E-FF41D33C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530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Recomendación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EEC0F9-1B9B-40EE-A75D-6E2B2A36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096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799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Evaluar Cloudflare Zero Trust o Tailscale según arquitectura real, SAP/recursos internos, presupuesto y experiencia de usuario. No decidir por marca sin diagnóstico.</a:t>
            </a:r>
          </a:p>
        </p:txBody>
      </p:sp>
    </p:spTree>
    <p:extLst>
      <p:ext uri="{BB962C8B-B14F-4D97-AF65-F5344CB8AC3E}">
        <p14:creationId xmlns:p14="http://schemas.microsoft.com/office/powerpoint/2010/main" val="187892713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DCF875-4DB0-4E9B-9422-5D523EC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0D0F58-DB84-4DA8-A37D-FDA1983E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62CBD-17C1-4B0E-80D0-DF99F4FE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42A24-BE49-4383-B81A-E2F82A03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ONBOARDING SIN STOCK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B7643-2F22-447D-9CC3-F13F499E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Si entra alguien mañana, se maneja como excepción controlada, no como improvisación.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46F0E-9C22-4F52-91AA-08C1F0E4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85541-152D-438D-8D8E-082AB534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190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286E9-886C-46AD-8792-C2E89DC4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38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59F0C3-2D06-4942-829E-B95572DB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432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Validar criticidad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C653E-C411-4A70-9AE7-6F5C8C85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004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¿El rol impacta ventas, operación o finanzas?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19746D-2CB3-4D4C-A7CB-F769A6F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480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14724-8EB7-42A2-B14B-EC75F3AE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908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108DE-C6DF-46B5-9717-D93C0443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2190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8A3922-6123-45C4-84A7-AFF355B3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86000"/>
            <a:ext cx="38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B5161-36D3-4571-8F8A-FB9092B4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Buscar recuperable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F58793-26E3-46AE-8190-18D75138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004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Equipo devuelto, reparación o préstamo temporal.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356E4-2A0C-491C-A889-B9DA16F7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480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CECF2D-3F43-4BF8-868C-E0112106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908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176A4-8051-4D18-ACD7-78B6183C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190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AA46B8-0CE2-49B7-A5B7-557DC9FD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38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6E3B3-D096-451D-890C-4808B2A9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432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Excepción segura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94AAD8-698A-4BEF-A22B-6BCD8A52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04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BYOD solo con web, MFA, sin sync local y fecha límite.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1EBFA5-25B6-4299-9C61-B7DF0A39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E04192-C703-479C-B75B-D65C7E9B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90850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852653-85D9-49B9-B626-E13B4099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95500"/>
            <a:ext cx="2190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B4CBBE-0BB0-4AE6-9326-E356CDAC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86000"/>
            <a:ext cx="38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B24360-F866-40D6-97DC-224F935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43200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Compra express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5FF92-CF5A-40A0-9F69-64733AB9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00400"/>
            <a:ext cx="1809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Registrar riesgo, aprobación y cierre de excepción.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6F571E-6A75-4B24-BC2C-2C3120B5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0125"/>
            <a:ext cx="857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Principio: la excepción debe tener dueño, fecha límite y control de datos.</a:t>
            </a:r>
          </a:p>
        </p:txBody>
      </p:sp>
    </p:spTree>
    <p:extLst>
      <p:ext uri="{BB962C8B-B14F-4D97-AF65-F5344CB8AC3E}">
        <p14:creationId xmlns:p14="http://schemas.microsoft.com/office/powerpoint/2010/main" val="2383715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52B75-9468-404E-A307-CB960B78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33163-9336-416C-A77F-78B4CDB4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E9F1F-8178-4C2E-AC44-F03592B4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BD9F8-0C8D-4702-8633-ED37ADE5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OFFBOARDING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51CDB-5D0F-47A0-B0A9-0F049650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El caso del comercial expone un riesgo operativo que se cierra con SLA y evidencia.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4F1CF-3647-4CA7-A916-53D996EB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E18E2-1E1A-49E2-AD04-6E0A56BE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3429000" cy="4095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>
            <a:solidFill>
              <a:srgbClr val="F4C7C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CF5A7-810F-4CA5-B5B7-BE8EAA06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B1C1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9B1C1C"/>
                </a:solidFill>
                <a:latin typeface="Aptos"/>
                <a:ea typeface="Aptos"/>
                <a:cs typeface="Aptos"/>
              </a:rPr>
              <a:t>Riesgos inmediatos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4F7893-F36C-4633-B9B0-F85D8347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2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1C513-F5BC-4024-99F4-A005407B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Gmail corporativo activo.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9BFB4E-ABB8-44A1-B11C-6A5545E8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76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A8DAC-A7DB-48CE-BF39-8E7D831F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90825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Slack y conversaciones internas.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4AF62-0F69-4BCF-B68A-A57EA834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908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84B1C-277A-4A9B-980C-BAC9BC8A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Drive con piezas de marca.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84B2A2-545A-4837-AEE3-6828D1C7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05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EEF8B5-EE1A-42D5-AE5A-D35581E3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19475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Adobe Creative Cloud.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2AF8D7-09C2-428F-9592-A85262FC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9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4D67DB-763E-4F8F-880C-0FBC8527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33800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MacBook y celular corporativo.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A113C4-6195-42A5-A1BC-42C61B7C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FDC640-FCA4-4D44-A0FE-A4980868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48125"/>
            <a:ext cx="2543175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Suplantación, fuga o borrado.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345424-8F61-47DE-AA8A-F2D78A66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61912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25F2FD-D913-4386-81B2-939B39F4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00250"/>
            <a:ext cx="2476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Protocolo objetivo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65DD26-4640-4548-B40F-16D7BF9C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62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A9B98D-8448-4402-8F5A-9A12A26F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7650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Suspender Google, revocar sesiones y tokens.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AB8F3E-0F41-4881-9246-69DAB429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860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837A6B-AE42-4BE8-B279-5BBFC515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0035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Desactivar Slack, Adobe, ClickUp/SAP según rol.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49C700-FD2F-4A9E-ADB7-DB4050DE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9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130028-B2D9-474B-8763-A718643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Transferir propiedad de Drive y asegurar piezas de marca.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E2059B-BB25-48D2-A40B-697A2D09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337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0AFF8E-0618-4075-BB52-73E435AF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44805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Bloquear/borrar MacBook y celular por MDM según riesgo.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0980DB-31FF-433E-B415-55F9E268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57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786AAB-3B01-4AEE-9799-FDFC7EA3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77190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3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Recuperar activos, cerrar licencias y documentar evidencia.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20D17B-8661-4D8C-B0D1-C6516D1D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95875"/>
            <a:ext cx="26670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FEAF8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132C34-A28B-4AED-8EAD-1F97D4F4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53025"/>
            <a:ext cx="2476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SLA salida sensible: &lt; 1 hora</a:t>
            </a:r>
          </a:p>
        </p:txBody>
      </p:sp>
    </p:spTree>
    <p:extLst>
      <p:ext uri="{BB962C8B-B14F-4D97-AF65-F5344CB8AC3E}">
        <p14:creationId xmlns:p14="http://schemas.microsoft.com/office/powerpoint/2010/main" val="15572739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19FFEB-1A4D-44DA-859C-27C9C7F1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2B7273-CF63-4572-9CB2-BBBAE890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3F079-A308-4CFB-AF10-15900B40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14CB3-C17B-4581-B576-3813551F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MAPA DE RIESGOS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A9AD6-C9A8-43E4-BCEA-F34BEA4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Las primeras acciones se priorizan por fuga de información, continuidad y ownership.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E0EB7-3908-4A93-9781-474867E7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165D4-FF68-4124-94C0-7FFFDF4D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666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Impacto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E327B3-A049-45E1-A45F-762A71F9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54292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Probabilidad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A0872-CC06-4EA3-A23C-59EF13D3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955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FEA14-E773-4EF3-B672-BD46FCD2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90D23-D2BD-4F88-807D-415694D2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D4A4D-C5E7-4D16-84FF-250F7A1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95275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6891AC-24DF-45BE-9AB9-17272D83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C7FFE7-A4E9-4805-BCB9-B855AA81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275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2BCD01-1D03-4B71-90C3-5034FF33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100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9388E-2E16-44C3-9989-51AA798C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100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E5E-2DA7-46DC-B3FD-D78DE580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1047750" cy="762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4F4EA"/>
          </a:solidFill>
          <a:ln xmlns:a="http://schemas.openxmlformats.org/drawingml/2006/main">
            <a:solidFill>
              <a:srgbClr val="FFFFF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5970A9-D10C-4572-8099-7A78558E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33625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Alto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137A27-84B4-4D83-9401-F54C79F78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90875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Medio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619E7E-E413-45B7-A5D2-68E096A6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48125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Bajo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18966-AC46-40A9-973F-5B70CFE3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815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Baja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52D657-8C58-41E1-86B0-1774874C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7815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Media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5DD380-2E03-47C9-885B-5DAE60BF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815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Alta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19716D-81B6-42F8-BB94-377B5103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3815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D42C3A-ADCE-43CC-B7A5-4E80FFC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17170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Top 6 primeros 30 días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56676A-9C8F-4532-BCA4-63A5063D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695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317488-D2E7-473A-A376-C3D5269A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09850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Excolaborador con acceso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A646D8-9F12-4FBE-A006-DC55F161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990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AC3082-0536-4440-9231-05568DC2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905125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Activos sin responsable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A912FE-976E-453D-8683-27F39A7A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42F9F9-8624-4DAA-805E-F8256CC9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00400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Equipos sin MDM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4CFB8A-AB74-41A1-89AA-9FAC39CB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5814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92E2E5-18BB-49E9-BCBF-B4DF066A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495675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Shadow AI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53B25F-BC38-4279-9CD5-52EEAABE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8766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0B9F94-8E0C-41F8-A2D5-19BCFDF3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790950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Credenciales comprometidas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7487C1-4E9B-46E4-9934-FC084BF5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171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998192-735B-49C9-AEE6-66282198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086225"/>
            <a:ext cx="3448050" cy="390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RRHH sobrecargado</a:t>
            </a:r>
          </a:p>
        </p:txBody>
      </p:sp>
    </p:spTree>
    <p:extLst>
      <p:ext uri="{BB962C8B-B14F-4D97-AF65-F5344CB8AC3E}">
        <p14:creationId xmlns:p14="http://schemas.microsoft.com/office/powerpoint/2010/main" val="112829417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BF2452-8E3E-4EE0-985A-CFBDEB78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9A6D2-20C4-43B1-AFF9-65ADA5F5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252A1-8EAF-42DE-BAA6-1055F3F7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CD0F5-50D1-4939-A5BC-7F321742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ROADMAP 30/60/90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7387A-F607-4329-A574-5E1A17A5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propuesta se ejecuta por oleadas: control, implementación y escalamiento.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07584-5941-4879-8D1F-6F3723B7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CF016-65FC-4FA0-B94F-FDF4AF5B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42AB8-077C-4F8A-B628-0E27EB83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705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0-30 DÍAS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03F09C-D7AE-40A9-BADD-3D7D44E5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2705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Control y orden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82FD4-8767-4353-B502-1AE2065D8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27051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Inventario, RACI, MFA, offboarding, stock, baseline Google/Slack, política 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07720-438E-44E1-99BD-275A5AF8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9550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545665-63EC-44E8-8B73-953B48D7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2705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31-60 DÍAS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D2A1ED-95EC-4478-920D-6564598A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95550"/>
            <a:ext cx="2705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Implementación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7279C3-EA41-4E27-B6A9-17FEC034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14650"/>
            <a:ext cx="27051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MDM oleada 1, SSO/SCIM, piloto Zero Trust, base de conocimiento, pilotos 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14C436-91D6-4870-9984-08ED874F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95500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2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9BB30-4F8A-4D9D-9619-793E9233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705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61-90 DÍAS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9EFD9-B1F8-420A-8ECA-FBB5FC32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95550"/>
            <a:ext cx="2705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Escalamiento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55292-C609-467B-9117-B95B70AA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14650"/>
            <a:ext cx="2705100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Auditoría accesos, automatización, continuidad, roadmap anual e IA responsable.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9C6108-248A-4A44-A190-B1EE9ABD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71825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48D797-5A9D-4020-ADCC-EA86F507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146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4957B6-7155-4461-B59E-C33640F6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71825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16F8D6-B889-4A51-82FF-CF8097C5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14675"/>
            <a:ext cx="11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14689D-B8FB-49F7-A319-16F5EB1D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57750"/>
            <a:ext cx="962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DF1F8"/>
          </a:solidFill>
          <a:ln xmlns:a="http://schemas.openxmlformats.org/drawingml/2006/main">
            <a:solidFill>
              <a:srgbClr val="DDF1F8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279975-E25D-4648-8F0F-9E84E708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10150"/>
            <a:ext cx="9048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4471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Resultado esperado día 90: función IT medible, supervisada por RRHH, con KPIs, controles base, auditoría y roadmap anual.</a:t>
            </a:r>
          </a:p>
        </p:txBody>
      </p:sp>
    </p:spTree>
    <p:extLst>
      <p:ext uri="{BB962C8B-B14F-4D97-AF65-F5344CB8AC3E}">
        <p14:creationId xmlns:p14="http://schemas.microsoft.com/office/powerpoint/2010/main" val="162326962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29A8CF-79A2-4394-A80A-E95661FC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9A860-3620-444F-9C57-F6DEB1D0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2ECFC-B83C-43E6-8321-F2DA3C3E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CAD16-0FA3-4DC5-9943-2F764C2A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PRESUPUESTO POR ESCENARIOS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E6A2D-9DD6-4506-B934-CF6D6400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inversión debe ser gradual: cerrar riesgos primero, escalar después.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B3CB5-D95E-4BC2-997F-6FC32B5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0C5CA-5373-4AF9-9855-3999188E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3333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AF8AF5-3E22-402A-9D33-1614211B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47875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Básico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299879-1F8F-4B58-A571-7F3CC671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6860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Gobierno, inventario, MFA, offboarding, canal único.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0D794-83A8-4D29-8284-D4A3CD16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26860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USD 0-500/mes + hardware cotizado.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84D0DD-5ABE-47CD-A3CE-64337047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2686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Riesgo: más trabajo manual.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47749-B27B-4D2E-89AC-3C10F7F4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3143250" cy="3333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96629-B8D4-4F7E-95DB-8A0CAB46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47875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Recomendado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AEEBC-F0FC-4663-A6E6-69CC23C2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71750"/>
            <a:ext cx="26860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Básico + MDM, stock, piloto Zero Trust, SSO/SCIM.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6CB18-97B3-4F02-9A0D-484678F0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86150"/>
            <a:ext cx="26860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MDM desde USD 4-12.50 disp/mes; Tailscale USD 8 usuario/mes; implementación USD 2k-8k.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35776-A10F-42D6-BD4C-5489C6A7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400550"/>
            <a:ext cx="2686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Balance costo/seguridad para 51-200 empleados.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2ABCCD-E657-4716-8C59-7305EEA0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143250" cy="3333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B48C5E-73CC-4496-96ED-549A64DD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47875"/>
            <a:ext cx="2667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Ideal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84E2BE-0FCB-4EA0-9360-140E7A8B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6860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Recomendado + SASE, DLP, SIEM, ITSM dedicado.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204EB2-4375-4F53-9FC8-06E992B6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26860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Cotización enterprise según alcance.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BE3CE8-393E-4FAE-8FFA-5C0CF6DF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00550"/>
            <a:ext cx="26860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Riesgo: sobredimensionar fase inicial.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35FD12-48EA-4E55-B312-A8BFE35D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476875"/>
            <a:ext cx="942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719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Recomendación: iniciar por el escenario recomendado por fases, validando licenciamiento actual y cotizaciones locales.</a:t>
            </a:r>
          </a:p>
        </p:txBody>
      </p:sp>
    </p:spTree>
    <p:extLst>
      <p:ext uri="{BB962C8B-B14F-4D97-AF65-F5344CB8AC3E}">
        <p14:creationId xmlns:p14="http://schemas.microsoft.com/office/powerpoint/2010/main" val="1371666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3D9580-41D3-4EF5-8C3B-E42A4A84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A37D55-9032-4558-80AF-58AA4733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CD2F1-4420-47B6-A4E6-466D5758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9396F-0073-4DB2-8523-D863E449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VALOR AGREGADO: IA RESPONSABLE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0EF289-A220-4894-9199-F6C4765D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IA no es el enfoque central; es una propuesta prudente para aumentar productividad.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647D8-D7CF-42EB-A507-3348DC0C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2A4CE-729D-46C7-83F6-5D554CC7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762500" cy="3286125"/>
          </a:xfrm>
          <a:prstGeom xmlns:a="http://schemas.openxmlformats.org/drawingml/2006/main" prst="roundRect">
            <a:avLst>
              <a:gd name="adj" fmla="val 23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5E0F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69FEF-89C4-4127-A678-189B9672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95500"/>
            <a:ext cx="266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Pilotos de bajo riesgo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F57AA5-30AB-4786-BDD0-36744162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574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4AB49-63CD-4982-A3C6-BB820E90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36385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Base de conocimiento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D182D-3C24-4921-A729-DBA86CDA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68A10-EEDE-4174-B3F4-B9BCBD1F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05125"/>
            <a:ext cx="36385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Resumen y clasificación de tickets.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F5528-4227-4776-B025-3398F282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24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E762BF-6099-45C0-BB32-FBE610F9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38500"/>
            <a:ext cx="36385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Checklists de onboarding/offboarding.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C996BE-9044-4ACF-9ADA-4B78CED6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02B54-5FBC-44F0-8B83-BE68597A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71875"/>
            <a:ext cx="36385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Normalización de inventario.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88750-C9F9-4DBA-BB7E-0A81CBF8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909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FD132C-BC4B-4750-A4D6-0AA8F1E7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05250"/>
            <a:ext cx="36385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Análisis de licencias.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07260A-356B-4E7C-BC41-3E45120A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28800"/>
            <a:ext cx="4762500" cy="3286125"/>
          </a:xfrm>
          <a:prstGeom xmlns:a="http://schemas.openxmlformats.org/drawingml/2006/main" prst="roundRect">
            <a:avLst>
              <a:gd name="adj" fmla="val 2319"/>
            </a:avLst>
          </a:prstGeom>
          <a:solidFill xmlns:a="http://schemas.openxmlformats.org/drawingml/2006/main">
            <a:srgbClr val="FFF2CC"/>
          </a:solidFill>
          <a:ln xmlns:a="http://schemas.openxmlformats.org/drawingml/2006/main">
            <a:solidFill>
              <a:srgbClr val="F3D58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0EBD3D-ACE7-4BF9-87D0-B0906BD3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955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A5A0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A5A00"/>
                </a:solidFill>
                <a:latin typeface="Aptos"/>
                <a:ea typeface="Aptos"/>
                <a:cs typeface="Aptos"/>
              </a:rPr>
              <a:t>Controles antes de escalar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9DD5DC-61CA-4C52-A3BF-453AA1E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74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9428E3-176D-4764-A38B-9E7EBEE9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71750"/>
            <a:ext cx="3733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Política de uso y clasificación de datos.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4A91BA-256D-483F-A9F1-701FB472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194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27AA2-15EB-4DC1-97D8-53C9BF25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33700"/>
            <a:ext cx="3733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Herramientas corporativas, no cuentas personales.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CE686-DC40-465C-ACEC-6776F42D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813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FEABF2-31B9-4232-A436-C1963FF1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95650"/>
            <a:ext cx="3733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cargar SAP, credenciales ni datos sensibles.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2084DD-7FB2-4D8D-8FB1-3A8962F1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43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E0FF48-6113-48A8-9C53-373DA06E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57600"/>
            <a:ext cx="3733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Revisión humana obligatoria.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9DB831-3669-4D1B-8936-39BFE153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05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199C6-16BD-43AD-8111-DBF3ABEE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19550"/>
            <a:ext cx="37338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Agentes críticos postergados.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6D698A-CF19-4687-A3F3-59065994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72125"/>
            <a:ext cx="923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471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Mensaje clave: la IA entra como acelerador controlado, no como sustituto de gobierno ni como respuesta principal al reto.</a:t>
            </a:r>
          </a:p>
        </p:txBody>
      </p:sp>
    </p:spTree>
    <p:extLst>
      <p:ext uri="{BB962C8B-B14F-4D97-AF65-F5344CB8AC3E}">
        <p14:creationId xmlns:p14="http://schemas.microsoft.com/office/powerpoint/2010/main" val="2907504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A19ED0-44A6-4139-906A-F9166682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>
            <a:solidFill>
              <a:srgbClr val="FBFAF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E0929-37AB-4EA0-8B09-F12C4AE3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3333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Paranice | Reto técnico 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B20B1-D76E-41A2-891B-B6451E45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76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3110B-1ECE-4F6B-BA58-E79403C0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ED770-18D5-4C51-8A91-B6613813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8572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01A4A"/>
                </a:solidFill>
                <a:latin typeface="Aptos Display"/>
                <a:ea typeface="Aptos Display"/>
                <a:cs typeface="Aptos Display"/>
              </a:rPr>
              <a:t>La propuesta crea capacidad IT sin perder la supervisión de RRHH ni la cercanía al negocio.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61917-5FD5-4710-B4F2-7B964225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EA"/>
          </a:solidFill>
          <a:ln xmlns:a="http://schemas.openxmlformats.org/drawingml/2006/main">
            <a:solidFill>
              <a:srgbClr val="D7CDE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37D53-ABDB-4524-B5B3-8E5A34DE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Mis 3 prioridades al entrar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3CD39-70DD-4186-9B95-432CE25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193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4264B9-E748-4EAF-87F0-06DC1968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33625"/>
            <a:ext cx="59245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Transición controlada RRHH -&gt; IT y cierre de riesgos críticos.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618F-60AB-4F7D-9FC8-A7FBE8C9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479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9BD6F-060C-4B54-8400-4E7C15BE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62250"/>
            <a:ext cx="59245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Inventario confiable de activos, usuarios, aplicaciones, licencias y proveedores.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361D0-F359-4B21-94D1-5685676A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76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2E83"/>
          </a:solidFill>
          <a:ln xmlns:a="http://schemas.openxmlformats.org/drawingml/2006/main">
            <a:solidFill>
              <a:srgbClr val="4B2E8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DA696-DDD5-4D0B-8865-0E308269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90875"/>
            <a:ext cx="59245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Operación medible: SLAs, canal único, matriz de accesos, stock y dashboard.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427EB-2299-4F84-9A63-31C97292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09750"/>
            <a:ext cx="3333750" cy="242887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EFEAF8"/>
          </a:solidFill>
          <a:ln xmlns:a="http://schemas.openxmlformats.org/drawingml/2006/main">
            <a:solidFill>
              <a:srgbClr val="DCD3E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55FD56-8823-44F0-9003-9CCAC463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9550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4B2E8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4B2E83"/>
                </a:solidFill>
                <a:latin typeface="Aptos"/>
                <a:ea typeface="Aptos"/>
                <a:cs typeface="Aptos"/>
              </a:rPr>
              <a:t>Propuesta de valor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BEF51-15EE-47BB-BBA2-20245D55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67000"/>
            <a:ext cx="2476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Orden operativo</a:t>
            </a:r>
          </a:p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Seguridad proporcional</a:t>
            </a:r>
          </a:p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Continuidad</a:t>
            </a:r>
          </a:p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Productividad</a:t>
            </a:r>
          </a:p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Crecimiento escalable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3EB0EA-8329-4690-AC32-448DC78C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9810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DF1F8"/>
          </a:solidFill>
          <a:ln xmlns:a="http://schemas.openxmlformats.org/drawingml/2006/main">
            <a:solidFill>
              <a:srgbClr val="DDF1F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67C815-BF0E-47A2-9D82-2F544195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10150"/>
            <a:ext cx="923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8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1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01A4A"/>
                </a:solidFill>
                <a:latin typeface="Aptos"/>
                <a:ea typeface="Aptos"/>
                <a:cs typeface="Aptos"/>
              </a:rPr>
              <a:t>No busco volver a Paranice burocrática; busco que crezca con trazabilidad, seguridad y velocidad.</a:t>
            </a:r>
          </a:p>
        </p:txBody>
      </p:sp>
    </p:spTree>
    <p:extLst>
      <p:ext uri="{BB962C8B-B14F-4D97-AF65-F5344CB8AC3E}">
        <p14:creationId xmlns:p14="http://schemas.microsoft.com/office/powerpoint/2010/main" val="20437676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2026-05-13T05:04:28.5280000Z</dcterms:created>
  <dcterms:modified xsi:type="dcterms:W3CDTF">2026-05-13T05:04:28.5280000Z</dcterms:modified>
</coreProperties>
</file>